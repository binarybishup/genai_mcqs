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6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  <p:embeddedFont>
      <p:font typeface="Calibri (MS) Italics" charset="1" panose="020F05020202040A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notesMasters/notesMaster1.xml" Type="http://schemas.openxmlformats.org/officeDocument/2006/relationships/notesMaster"/><Relationship Id="rId17" Target="theme/theme2.xml" Type="http://schemas.openxmlformats.org/officeDocument/2006/relationships/theme"/><Relationship Id="rId18" Target="notesSlides/notesSlide1.xml" Type="http://schemas.openxmlformats.org/officeDocument/2006/relationships/notes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notesSlides/notesSlide2.xml" Type="http://schemas.openxmlformats.org/officeDocument/2006/relationships/notesSlide"/><Relationship Id="rId22" Target="notesSlides/notesSlide3.xml" Type="http://schemas.openxmlformats.org/officeDocument/2006/relationships/notesSlide"/><Relationship Id="rId23" Target="notesSlides/notesSlide4.xml" Type="http://schemas.openxmlformats.org/officeDocument/2006/relationships/notesSlide"/><Relationship Id="rId24" Target="notesSlides/notesSlide5.xml" Type="http://schemas.openxmlformats.org/officeDocument/2006/relationships/notesSlide"/><Relationship Id="rId25" Target="notesSlides/notesSlide6.xml" Type="http://schemas.openxmlformats.org/officeDocument/2006/relationships/notesSlide"/><Relationship Id="rId26" Target="notesSlides/notesSlide7.xml" Type="http://schemas.openxmlformats.org/officeDocument/2006/relationships/notesSlide"/><Relationship Id="rId27" Target="notesSlides/notesSlide8.xml" Type="http://schemas.openxmlformats.org/officeDocument/2006/relationships/notesSlide"/><Relationship Id="rId28" Target="fonts/font28.fntdata" Type="http://schemas.openxmlformats.org/officeDocument/2006/relationships/font"/><Relationship Id="rId29" Target="notesSlides/notesSlide9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10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Relationship Id="rId5" Target="../media/image2.png" Type="http://schemas.openxmlformats.org/officeDocument/2006/relationships/image"/><Relationship Id="rId6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4440" y="3429000"/>
            <a:ext cx="96012" cy="2125980"/>
            <a:chOff x="0" y="0"/>
            <a:chExt cx="128016" cy="2834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8016" cy="2834640"/>
            </a:xfrm>
            <a:custGeom>
              <a:avLst/>
              <a:gdLst/>
              <a:ahLst/>
              <a:cxnLst/>
              <a:rect r="r" b="b" t="t" l="l"/>
              <a:pathLst>
                <a:path h="283464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2834640"/>
                  </a:lnTo>
                  <a:lnTo>
                    <a:pt x="0" y="283464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577340" y="3758184"/>
            <a:ext cx="15636240" cy="1440180"/>
            <a:chOff x="0" y="0"/>
            <a:chExt cx="20848320" cy="19202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0848320" cy="1920240"/>
            </a:xfrm>
            <a:custGeom>
              <a:avLst/>
              <a:gdLst/>
              <a:ahLst/>
              <a:cxnLst/>
              <a:rect r="r" b="b" t="t" l="l"/>
              <a:pathLst>
                <a:path h="192024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1551" r="0" b="-16155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61925"/>
              <a:ext cx="20848320" cy="2082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000"/>
                </a:lnSpc>
              </a:pPr>
              <a:r>
                <a:rPr lang="en-US" sz="7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618488" y="5280660"/>
            <a:ext cx="15087600" cy="685800"/>
            <a:chOff x="0" y="0"/>
            <a:chExt cx="20116800" cy="91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116800" cy="914400"/>
            </a:xfrm>
            <a:custGeom>
              <a:avLst/>
              <a:gdLst/>
              <a:ahLst/>
              <a:cxnLst/>
              <a:rect r="r" b="b" t="t" l="l"/>
              <a:pathLst>
                <a:path h="914400" w="20116800">
                  <a:moveTo>
                    <a:pt x="0" y="0"/>
                  </a:moveTo>
                  <a:lnTo>
                    <a:pt x="20116800" y="0"/>
                  </a:lnTo>
                  <a:lnTo>
                    <a:pt x="20116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8670" r="0" b="-37867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20116800" cy="9810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79"/>
                </a:lnSpc>
              </a:pPr>
              <a:r>
                <a:rPr lang="en-US" sz="315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AI-powered assessment question creation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618488" y="6336792"/>
            <a:ext cx="12344400" cy="685800"/>
            <a:chOff x="0" y="0"/>
            <a:chExt cx="16459200" cy="9144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459200" cy="914400"/>
            </a:xfrm>
            <a:custGeom>
              <a:avLst/>
              <a:gdLst/>
              <a:ahLst/>
              <a:cxnLst/>
              <a:rect r="r" b="b" t="t" l="l"/>
              <a:pathLst>
                <a:path h="91440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00730" r="0" b="-30073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57150"/>
              <a:ext cx="16459200" cy="9715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sample set or just a topic — built in-house on Claude.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02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CONTEXT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we built it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585" r="0" b="-37158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21762720" cy="10439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We produce a high volume of assessment questions in-house — and every one of them has to be original.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4046220"/>
            <a:ext cx="7886700" cy="3429000"/>
            <a:chOff x="0" y="0"/>
            <a:chExt cx="10515600" cy="4572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95460" y="4046220"/>
            <a:ext cx="7886700" cy="3429000"/>
            <a:chOff x="0" y="0"/>
            <a:chExt cx="10515600" cy="4572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515600" cy="4572000"/>
            </a:xfrm>
            <a:custGeom>
              <a:avLst/>
              <a:gdLst/>
              <a:ahLst/>
              <a:cxnLst/>
              <a:rect r="r" b="b" t="t" l="l"/>
              <a:pathLst>
                <a:path h="457200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425696"/>
                  </a:lnTo>
                  <a:cubicBezTo>
                    <a:pt x="10515600" y="4506468"/>
                    <a:pt x="10450068" y="4572000"/>
                    <a:pt x="10369296" y="4572000"/>
                  </a:cubicBezTo>
                  <a:lnTo>
                    <a:pt x="146304" y="4572000"/>
                  </a:lnTo>
                  <a:cubicBezTo>
                    <a:pt x="65532" y="4572000"/>
                    <a:pt x="0" y="4506468"/>
                    <a:pt x="0" y="44256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40180" y="4485132"/>
            <a:ext cx="576072" cy="576072"/>
            <a:chOff x="0" y="0"/>
            <a:chExt cx="768096" cy="768096"/>
          </a:xfrm>
        </p:grpSpPr>
        <p:sp>
          <p:nvSpPr>
            <p:cNvPr name="Freeform 29" id="29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9875520" y="4485132"/>
            <a:ext cx="576072" cy="576072"/>
            <a:chOff x="0" y="0"/>
            <a:chExt cx="768096" cy="768096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440180" y="5253228"/>
            <a:ext cx="6995160" cy="548640"/>
            <a:chOff x="0" y="0"/>
            <a:chExt cx="932688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volume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40180" y="5911596"/>
            <a:ext cx="6995160" cy="1371600"/>
            <a:chOff x="0" y="0"/>
            <a:chExt cx="9326880" cy="1828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66675"/>
              <a:ext cx="9326880" cy="18954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Our teams author questions across many skills, roles, and difficulty levels. Collecting them from SMEs is slow and can't keep pace with demand.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875520" y="5253228"/>
            <a:ext cx="6995160" cy="548640"/>
            <a:chOff x="0" y="0"/>
            <a:chExt cx="932688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originality bar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875520" y="5911596"/>
            <a:ext cx="6995160" cy="1371600"/>
            <a:chOff x="0" y="0"/>
            <a:chExt cx="9326880" cy="1828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66675"/>
              <a:ext cx="9326880" cy="18954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7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Leaked or duplicated questions quietly undermine test validity. Originality has to be assured when a question is written — not hoped for and checked later.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60120" y="7886700"/>
            <a:ext cx="16322040" cy="685800"/>
            <a:chOff x="0" y="0"/>
            <a:chExt cx="21762720" cy="9144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21762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MCQ Gen AI Creation was built to handle both at once — speed, without giving up originality.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03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OVERVIEW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it is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754380"/>
            <a:chOff x="0" y="0"/>
            <a:chExt cx="21762720" cy="10058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585" r="0" b="-37158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10629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40"/>
                </a:lnSpc>
              </a:pPr>
              <a:r>
                <a:rPr lang="en-US" sz="2700" b="true">
                  <a:solidFill>
                    <a:srgbClr val="33333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Turn a topic — with or without sample questions — into ready-to-use, original MCQs.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3771900"/>
            <a:ext cx="16322040" cy="548640"/>
            <a:chOff x="0" y="0"/>
            <a:chExt cx="21762720" cy="7315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679" r="0" b="-52967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47625"/>
              <a:ext cx="217627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Built in-house on Claude's API.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60120" y="4732020"/>
            <a:ext cx="5253228" cy="3291840"/>
            <a:chOff x="0" y="0"/>
            <a:chExt cx="7004304" cy="43891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440180" y="5225796"/>
            <a:ext cx="548640" cy="548640"/>
            <a:chOff x="0" y="0"/>
            <a:chExt cx="731520" cy="73152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440180" y="5939028"/>
            <a:ext cx="4293108" cy="617220"/>
            <a:chOff x="0" y="0"/>
            <a:chExt cx="5724144" cy="8229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ways in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40180" y="6624828"/>
            <a:ext cx="4320540" cy="1303020"/>
            <a:chOff x="0" y="0"/>
            <a:chExt cx="5760720" cy="173736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Start from a sample set, or from just a topic and question type.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487668" y="4732020"/>
            <a:ext cx="5253228" cy="3291840"/>
            <a:chOff x="0" y="0"/>
            <a:chExt cx="7004304" cy="43891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9" id="39"/>
          <p:cNvGrpSpPr/>
          <p:nvPr/>
        </p:nvGrpSpPr>
        <p:grpSpPr>
          <a:xfrm rot="0">
            <a:off x="6967728" y="5225796"/>
            <a:ext cx="548640" cy="548640"/>
            <a:chOff x="0" y="0"/>
            <a:chExt cx="731520" cy="731520"/>
          </a:xfrm>
        </p:grpSpPr>
        <p:sp>
          <p:nvSpPr>
            <p:cNvPr name="Freeform 40" id="4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41" id="41"/>
          <p:cNvGrpSpPr/>
          <p:nvPr/>
        </p:nvGrpSpPr>
        <p:grpSpPr>
          <a:xfrm rot="0">
            <a:off x="6967728" y="5939028"/>
            <a:ext cx="4293108" cy="617220"/>
            <a:chOff x="0" y="0"/>
            <a:chExt cx="5724144" cy="8229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at volume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967728" y="6624828"/>
            <a:ext cx="4320540" cy="1303020"/>
            <a:chOff x="0" y="0"/>
            <a:chExt cx="5760720" cy="1737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Generates in the background, in parallel batches — not one at a time.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015216" y="4732020"/>
            <a:ext cx="5253228" cy="3291840"/>
            <a:chOff x="0" y="0"/>
            <a:chExt cx="7004304" cy="43891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004304" cy="4389120"/>
            </a:xfrm>
            <a:custGeom>
              <a:avLst/>
              <a:gdLst/>
              <a:ahLst/>
              <a:cxnLst/>
              <a:rect r="r" b="b" t="t" l="l"/>
              <a:pathLst>
                <a:path h="43891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242816"/>
                  </a:lnTo>
                  <a:cubicBezTo>
                    <a:pt x="7004304" y="4323588"/>
                    <a:pt x="6938772" y="4389120"/>
                    <a:pt x="6858000" y="4389120"/>
                  </a:cubicBezTo>
                  <a:lnTo>
                    <a:pt x="146304" y="4389120"/>
                  </a:lnTo>
                  <a:cubicBezTo>
                    <a:pt x="65532" y="4389120"/>
                    <a:pt x="0" y="4323588"/>
                    <a:pt x="0" y="42428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9" id="49"/>
          <p:cNvGrpSpPr/>
          <p:nvPr/>
        </p:nvGrpSpPr>
        <p:grpSpPr>
          <a:xfrm rot="0">
            <a:off x="12495276" y="5225796"/>
            <a:ext cx="548640" cy="548640"/>
            <a:chOff x="0" y="0"/>
            <a:chExt cx="731520" cy="731520"/>
          </a:xfrm>
        </p:grpSpPr>
        <p:sp>
          <p:nvSpPr>
            <p:cNvPr name="Freeform 50" id="50" descr="preencoded.png"/>
            <p:cNvSpPr/>
            <p:nvPr/>
          </p:nvSpPr>
          <p:spPr>
            <a:xfrm flipH="false" flipV="false" rot="0">
              <a:off x="0" y="0"/>
              <a:ext cx="731520" cy="731520"/>
            </a:xfrm>
            <a:custGeom>
              <a:avLst/>
              <a:gdLst/>
              <a:ahLst/>
              <a:cxnLst/>
              <a:rect r="r" b="b" t="t" l="l"/>
              <a:pathLst>
                <a:path h="731520" w="731520">
                  <a:moveTo>
                    <a:pt x="0" y="0"/>
                  </a:moveTo>
                  <a:lnTo>
                    <a:pt x="731520" y="0"/>
                  </a:lnTo>
                  <a:lnTo>
                    <a:pt x="731520" y="731520"/>
                  </a:lnTo>
                  <a:lnTo>
                    <a:pt x="0" y="7315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2495276" y="5939028"/>
            <a:ext cx="4293108" cy="617220"/>
            <a:chOff x="0" y="0"/>
            <a:chExt cx="5724144" cy="82296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724144" cy="822960"/>
            </a:xfrm>
            <a:custGeom>
              <a:avLst/>
              <a:gdLst/>
              <a:ahLst/>
              <a:cxnLst/>
              <a:rect r="r" b="b" t="t" l="l"/>
              <a:pathLst>
                <a:path h="8229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529" r="0" b="-85529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47625"/>
              <a:ext cx="5724144" cy="8705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 by default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2495276" y="6624828"/>
            <a:ext cx="4320540" cy="1303020"/>
            <a:chOff x="0" y="0"/>
            <a:chExt cx="5760720" cy="173736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5760720" cy="1737360"/>
            </a:xfrm>
            <a:custGeom>
              <a:avLst/>
              <a:gdLst/>
              <a:ahLst/>
              <a:cxnLst/>
              <a:rect r="r" b="b" t="t" l="l"/>
              <a:pathLst>
                <a:path h="173736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737360"/>
                  </a:lnTo>
                  <a:lnTo>
                    <a:pt x="0" y="1737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608" r="0" b="-14608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57150"/>
              <a:ext cx="5760720" cy="17945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Checked and self-corrected before any output reaches you.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04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MODES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Two ways to generate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360420"/>
            <a:ext cx="7886700" cy="3497580"/>
            <a:chOff x="0" y="0"/>
            <a:chExt cx="10515600" cy="46634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515600" cy="4663440"/>
            </a:xfrm>
            <a:custGeom>
              <a:avLst/>
              <a:gdLst/>
              <a:ahLst/>
              <a:cxnLst/>
              <a:rect r="r" b="b" t="t" l="l"/>
              <a:pathLst>
                <a:path h="466344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517136"/>
                  </a:lnTo>
                  <a:cubicBezTo>
                    <a:pt x="10515600" y="4597908"/>
                    <a:pt x="10450068" y="4663440"/>
                    <a:pt x="10369296" y="4663440"/>
                  </a:cubicBezTo>
                  <a:lnTo>
                    <a:pt x="146304" y="4663440"/>
                  </a:lnTo>
                  <a:cubicBezTo>
                    <a:pt x="65532" y="4663440"/>
                    <a:pt x="0" y="4597908"/>
                    <a:pt x="0" y="451713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395460" y="3360420"/>
            <a:ext cx="7886700" cy="3497580"/>
            <a:chOff x="0" y="0"/>
            <a:chExt cx="10515600" cy="46634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515600" cy="4663440"/>
            </a:xfrm>
            <a:custGeom>
              <a:avLst/>
              <a:gdLst/>
              <a:ahLst/>
              <a:cxnLst/>
              <a:rect r="r" b="b" t="t" l="l"/>
              <a:pathLst>
                <a:path h="4663440" w="105156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69296" y="0"/>
                  </a:lnTo>
                  <a:cubicBezTo>
                    <a:pt x="10450068" y="0"/>
                    <a:pt x="10515600" y="65532"/>
                    <a:pt x="10515600" y="146304"/>
                  </a:cubicBezTo>
                  <a:lnTo>
                    <a:pt x="10515600" y="4517136"/>
                  </a:lnTo>
                  <a:cubicBezTo>
                    <a:pt x="10515600" y="4597908"/>
                    <a:pt x="10450068" y="4663440"/>
                    <a:pt x="10369296" y="4663440"/>
                  </a:cubicBezTo>
                  <a:lnTo>
                    <a:pt x="146304" y="4663440"/>
                  </a:lnTo>
                  <a:cubicBezTo>
                    <a:pt x="65532" y="4663440"/>
                    <a:pt x="0" y="4597908"/>
                    <a:pt x="0" y="451713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440180" y="3826764"/>
            <a:ext cx="576072" cy="576072"/>
            <a:chOff x="0" y="0"/>
            <a:chExt cx="768096" cy="768096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440180" y="4594860"/>
            <a:ext cx="6995160" cy="548640"/>
            <a:chOff x="0" y="0"/>
            <a:chExt cx="9326880" cy="7315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With samples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440180" y="5280660"/>
            <a:ext cx="6995160" cy="1371600"/>
            <a:chOff x="0" y="0"/>
            <a:chExt cx="9326880" cy="1828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76200"/>
              <a:ext cx="932688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2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Pick a sample table and the output matches its format, tone, and difficulty — so it fits our bank from the very first line.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9875520" y="3826764"/>
            <a:ext cx="576072" cy="576072"/>
            <a:chOff x="0" y="0"/>
            <a:chExt cx="768096" cy="768096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9875520" y="4594860"/>
            <a:ext cx="6995160" cy="548640"/>
            <a:chOff x="0" y="0"/>
            <a:chExt cx="932688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9326880" cy="731520"/>
            </a:xfrm>
            <a:custGeom>
              <a:avLst/>
              <a:gdLst/>
              <a:ahLst/>
              <a:cxnLst/>
              <a:rect r="r" b="b" t="t" l="l"/>
              <a:pathLst>
                <a:path h="73152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8434" r="0" b="-198434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9326880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419"/>
                </a:lnSpc>
              </a:pPr>
              <a:r>
                <a:rPr lang="en-US" sz="28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From a topic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875520" y="5280660"/>
            <a:ext cx="6995160" cy="1371600"/>
            <a:chOff x="0" y="0"/>
            <a:chExt cx="9326880" cy="1828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932688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326880">
                  <a:moveTo>
                    <a:pt x="0" y="0"/>
                  </a:moveTo>
                  <a:lnTo>
                    <a:pt x="9326880" y="0"/>
                  </a:lnTo>
                  <a:lnTo>
                    <a:pt x="932688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373" r="0" b="-49373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76200"/>
              <a:ext cx="932688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22"/>
                </a:lnSpc>
              </a:pPr>
              <a:r>
                <a:rPr lang="en-US" sz="2100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Give just a topic and a question type — no samples needed — and it creates original questions from scratch.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60120" y="7338060"/>
            <a:ext cx="16322040" cy="685800"/>
            <a:chOff x="0" y="0"/>
            <a:chExt cx="21762720" cy="914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21762720" cy="9620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Either way, positive and negative prompts let you steer exactly what to include — and what to avoid.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05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WORKFLOW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How it works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From a topic to a verified, upload-ready question set — in six steps.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960120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042416" y="5047488"/>
            <a:ext cx="685800" cy="61722"/>
            <a:chOff x="0" y="0"/>
            <a:chExt cx="914400" cy="822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60120" y="5212080"/>
            <a:ext cx="4978908" cy="548640"/>
            <a:chOff x="0" y="0"/>
            <a:chExt cx="6638544" cy="7315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Pick a mode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60120" y="5788152"/>
            <a:ext cx="4910328" cy="891540"/>
            <a:chOff x="0" y="0"/>
            <a:chExt cx="6547104" cy="118872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With samples, or just a topic and type.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6487668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6569964" y="5047488"/>
            <a:ext cx="685800" cy="61722"/>
            <a:chOff x="0" y="0"/>
            <a:chExt cx="914400" cy="8229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487668" y="5212080"/>
            <a:ext cx="4978908" cy="548640"/>
            <a:chOff x="0" y="0"/>
            <a:chExt cx="6638544" cy="73152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Configure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6487668" y="5788152"/>
            <a:ext cx="4910328" cy="891540"/>
            <a:chOff x="0" y="0"/>
            <a:chExt cx="6547104" cy="118872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Set the type, quantity, and difficulty.</a:t>
              </a:r>
            </a:p>
          </p:txBody>
        </p:sp>
      </p:grpSp>
      <p:sp>
        <p:nvSpPr>
          <p:cNvPr name="TextBox 42" id="42"/>
          <p:cNvSpPr txBox="true"/>
          <p:nvPr/>
        </p:nvSpPr>
        <p:spPr>
          <a:xfrm rot="0">
            <a:off x="12015216" y="37071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12097512" y="5047488"/>
            <a:ext cx="685800" cy="61722"/>
            <a:chOff x="0" y="0"/>
            <a:chExt cx="914400" cy="8229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45" id="45"/>
          <p:cNvGrpSpPr/>
          <p:nvPr/>
        </p:nvGrpSpPr>
        <p:grpSpPr>
          <a:xfrm rot="0">
            <a:off x="12015216" y="5212080"/>
            <a:ext cx="4978908" cy="548640"/>
            <a:chOff x="0" y="0"/>
            <a:chExt cx="6638544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Choose model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2015216" y="5788152"/>
            <a:ext cx="4910328" cy="891540"/>
            <a:chOff x="0" y="0"/>
            <a:chExt cx="6547104" cy="11887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Lighter or heavier, to fit the job.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960120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1042416" y="7790688"/>
            <a:ext cx="685800" cy="61722"/>
            <a:chOff x="0" y="0"/>
            <a:chExt cx="914400" cy="8229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960120" y="7955280"/>
            <a:ext cx="4978908" cy="548640"/>
            <a:chOff x="0" y="0"/>
            <a:chExt cx="6638544" cy="7315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 prompts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960120" y="8531352"/>
            <a:ext cx="4910328" cy="891540"/>
            <a:chOff x="0" y="0"/>
            <a:chExt cx="6547104" cy="118872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Positive and negative guidance to steer output.</a:t>
              </a:r>
            </a:p>
          </p:txBody>
        </p:sp>
      </p:grpSp>
      <p:sp>
        <p:nvSpPr>
          <p:cNvPr name="TextBox 60" id="60"/>
          <p:cNvSpPr txBox="true"/>
          <p:nvPr/>
        </p:nvSpPr>
        <p:spPr>
          <a:xfrm rot="0">
            <a:off x="6487668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</a:t>
            </a:r>
          </a:p>
        </p:txBody>
      </p:sp>
      <p:grpSp>
        <p:nvGrpSpPr>
          <p:cNvPr name="Group 61" id="61"/>
          <p:cNvGrpSpPr/>
          <p:nvPr/>
        </p:nvGrpSpPr>
        <p:grpSpPr>
          <a:xfrm rot="0">
            <a:off x="6569964" y="7790688"/>
            <a:ext cx="685800" cy="61722"/>
            <a:chOff x="0" y="0"/>
            <a:chExt cx="914400" cy="82296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63" id="63"/>
          <p:cNvGrpSpPr/>
          <p:nvPr/>
        </p:nvGrpSpPr>
        <p:grpSpPr>
          <a:xfrm rot="0">
            <a:off x="6487668" y="7955280"/>
            <a:ext cx="4978908" cy="548640"/>
            <a:chOff x="0" y="0"/>
            <a:chExt cx="6638544" cy="73152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6487668" y="8531352"/>
            <a:ext cx="4910328" cy="891540"/>
            <a:chOff x="0" y="0"/>
            <a:chExt cx="6547104" cy="118872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68" id="68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Runs in the background, in parallel batches of 50.</a:t>
              </a:r>
            </a:p>
          </p:txBody>
        </p:sp>
      </p:grpSp>
      <p:sp>
        <p:nvSpPr>
          <p:cNvPr name="TextBox 69" id="69"/>
          <p:cNvSpPr txBox="true"/>
          <p:nvPr/>
        </p:nvSpPr>
        <p:spPr>
          <a:xfrm rot="0">
            <a:off x="12015216" y="6450330"/>
            <a:ext cx="1234440" cy="1367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003865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6</a:t>
            </a:r>
          </a:p>
        </p:txBody>
      </p:sp>
      <p:grpSp>
        <p:nvGrpSpPr>
          <p:cNvPr name="Group 70" id="70"/>
          <p:cNvGrpSpPr/>
          <p:nvPr/>
        </p:nvGrpSpPr>
        <p:grpSpPr>
          <a:xfrm rot="0">
            <a:off x="12097512" y="7790688"/>
            <a:ext cx="685800" cy="61722"/>
            <a:chOff x="0" y="0"/>
            <a:chExt cx="914400" cy="82296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914400" cy="82296"/>
            </a:xfrm>
            <a:custGeom>
              <a:avLst/>
              <a:gdLst/>
              <a:ahLst/>
              <a:cxnLst/>
              <a:rect r="r" b="b" t="t" l="l"/>
              <a:pathLst>
                <a:path h="82296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82296"/>
                  </a:lnTo>
                  <a:lnTo>
                    <a:pt x="0" y="8229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72" id="72"/>
          <p:cNvGrpSpPr/>
          <p:nvPr/>
        </p:nvGrpSpPr>
        <p:grpSpPr>
          <a:xfrm rot="0">
            <a:off x="12015216" y="7955280"/>
            <a:ext cx="4978908" cy="548640"/>
            <a:chOff x="0" y="0"/>
            <a:chExt cx="6638544" cy="73152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6638544" cy="731520"/>
            </a:xfrm>
            <a:custGeom>
              <a:avLst/>
              <a:gdLst/>
              <a:ahLst/>
              <a:cxnLst/>
              <a:rect r="r" b="b" t="t" l="l"/>
              <a:pathLst>
                <a:path h="731520" w="6638544">
                  <a:moveTo>
                    <a:pt x="0" y="0"/>
                  </a:moveTo>
                  <a:lnTo>
                    <a:pt x="6638544" y="0"/>
                  </a:lnTo>
                  <a:lnTo>
                    <a:pt x="663854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6826" r="0" b="-126826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663854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60"/>
                </a:lnSpc>
              </a:pPr>
              <a:r>
                <a:rPr lang="en-US" sz="25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Finalize &amp; export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12015216" y="8531352"/>
            <a:ext cx="4910328" cy="891540"/>
            <a:chOff x="0" y="0"/>
            <a:chExt cx="6547104" cy="118872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6547104" cy="1188720"/>
            </a:xfrm>
            <a:custGeom>
              <a:avLst/>
              <a:gdLst/>
              <a:ahLst/>
              <a:cxnLst/>
              <a:rect r="r" b="b" t="t" l="l"/>
              <a:pathLst>
                <a:path h="1188720" w="6547104">
                  <a:moveTo>
                    <a:pt x="0" y="0"/>
                  </a:moveTo>
                  <a:lnTo>
                    <a:pt x="6547104" y="0"/>
                  </a:lnTo>
                  <a:lnTo>
                    <a:pt x="6547104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317" r="0" b="-5731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47625"/>
              <a:ext cx="6547104" cy="12363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51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Plagiarism check, auto-revamp, Mettl-ready file.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06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ORIGINALITY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It doesn't just flag — it fixes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Plagiarism handling runs inside generation, not as a separate pass afterward.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45832" y="4306253"/>
            <a:ext cx="3663315" cy="1880235"/>
            <a:chOff x="0" y="0"/>
            <a:chExt cx="4884420" cy="250698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26" id="26"/>
          <p:cNvGrpSpPr/>
          <p:nvPr/>
        </p:nvGrpSpPr>
        <p:grpSpPr>
          <a:xfrm rot="0">
            <a:off x="1124712" y="4759452"/>
            <a:ext cx="3305556" cy="548640"/>
            <a:chOff x="0" y="0"/>
            <a:chExt cx="4407408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24712" y="5335524"/>
            <a:ext cx="3305556" cy="548640"/>
            <a:chOff x="0" y="0"/>
            <a:chExt cx="4407408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Draft the MCQ set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594860" y="4320540"/>
            <a:ext cx="594360" cy="1851660"/>
            <a:chOff x="0" y="0"/>
            <a:chExt cx="792480" cy="2468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174932" y="4306253"/>
            <a:ext cx="3663315" cy="1880235"/>
            <a:chOff x="0" y="0"/>
            <a:chExt cx="4884420" cy="250698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5353812" y="4759452"/>
            <a:ext cx="3305556" cy="548640"/>
            <a:chOff x="0" y="0"/>
            <a:chExt cx="4407408" cy="73152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Plagiarism check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5353812" y="5335524"/>
            <a:ext cx="3305556" cy="548640"/>
            <a:chOff x="0" y="0"/>
            <a:chExt cx="4407408" cy="73152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Scan every item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8823960" y="4320540"/>
            <a:ext cx="594360" cy="1851660"/>
            <a:chOff x="0" y="0"/>
            <a:chExt cx="792480" cy="24688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9404032" y="4306253"/>
            <a:ext cx="3663315" cy="1880235"/>
            <a:chOff x="0" y="0"/>
            <a:chExt cx="4884420" cy="250698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48" id="48"/>
          <p:cNvGrpSpPr/>
          <p:nvPr/>
        </p:nvGrpSpPr>
        <p:grpSpPr>
          <a:xfrm rot="0">
            <a:off x="9582912" y="4759452"/>
            <a:ext cx="3305556" cy="548640"/>
            <a:chOff x="0" y="0"/>
            <a:chExt cx="4407408" cy="73152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Revamp flagged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9582912" y="5335524"/>
            <a:ext cx="3305556" cy="548640"/>
            <a:chOff x="0" y="0"/>
            <a:chExt cx="4407408" cy="73152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Rewrite what's caught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3053060" y="4320540"/>
            <a:ext cx="594360" cy="1851660"/>
            <a:chOff x="0" y="0"/>
            <a:chExt cx="792480" cy="246888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792480" cy="2468880"/>
            </a:xfrm>
            <a:custGeom>
              <a:avLst/>
              <a:gdLst/>
              <a:ahLst/>
              <a:cxnLst/>
              <a:rect r="r" b="b" t="t" l="l"/>
              <a:pathLst>
                <a:path h="2468880" w="792480">
                  <a:moveTo>
                    <a:pt x="0" y="0"/>
                  </a:moveTo>
                  <a:lnTo>
                    <a:pt x="792480" y="0"/>
                  </a:lnTo>
                  <a:lnTo>
                    <a:pt x="792480" y="2468880"/>
                  </a:lnTo>
                  <a:lnTo>
                    <a:pt x="0" y="24688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9714" t="0" r="-349714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76200"/>
              <a:ext cx="792480" cy="25450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80"/>
                </a:lnSpc>
              </a:pPr>
              <a:r>
                <a:rPr lang="en-US" sz="39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→</a:t>
              </a: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3633132" y="4306253"/>
            <a:ext cx="3663315" cy="1880235"/>
            <a:chOff x="0" y="0"/>
            <a:chExt cx="4884420" cy="250698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84420" cy="2506980"/>
            </a:xfrm>
            <a:custGeom>
              <a:avLst/>
              <a:gdLst/>
              <a:ahLst/>
              <a:cxnLst/>
              <a:rect r="r" b="b" t="t" l="l"/>
              <a:pathLst>
                <a:path h="2506980" w="4884420">
                  <a:moveTo>
                    <a:pt x="0" y="148590"/>
                  </a:moveTo>
                  <a:cubicBezTo>
                    <a:pt x="0" y="66548"/>
                    <a:pt x="66548" y="0"/>
                    <a:pt x="148590" y="0"/>
                  </a:cubicBezTo>
                  <a:lnTo>
                    <a:pt x="4735830" y="0"/>
                  </a:lnTo>
                  <a:cubicBezTo>
                    <a:pt x="4817872" y="0"/>
                    <a:pt x="4884420" y="66548"/>
                    <a:pt x="4884420" y="148590"/>
                  </a:cubicBezTo>
                  <a:lnTo>
                    <a:pt x="4884420" y="2358390"/>
                  </a:lnTo>
                  <a:cubicBezTo>
                    <a:pt x="4884420" y="2440432"/>
                    <a:pt x="4817872" y="2506980"/>
                    <a:pt x="4735830" y="2506980"/>
                  </a:cubicBezTo>
                  <a:lnTo>
                    <a:pt x="148590" y="2506980"/>
                  </a:lnTo>
                  <a:cubicBezTo>
                    <a:pt x="66548" y="2506980"/>
                    <a:pt x="0" y="2440432"/>
                    <a:pt x="0" y="2358390"/>
                  </a:cubicBez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003865"/>
              </a:solidFill>
              <a:prstDash val="solid"/>
              <a:miter/>
            </a:ln>
          </p:spPr>
        </p:sp>
      </p:grpSp>
      <p:grpSp>
        <p:nvGrpSpPr>
          <p:cNvPr name="Group 59" id="59"/>
          <p:cNvGrpSpPr/>
          <p:nvPr/>
        </p:nvGrpSpPr>
        <p:grpSpPr>
          <a:xfrm rot="0">
            <a:off x="13812012" y="4759452"/>
            <a:ext cx="3305556" cy="548640"/>
            <a:chOff x="0" y="0"/>
            <a:chExt cx="4407408" cy="7315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Final output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812012" y="5335524"/>
            <a:ext cx="3305556" cy="548640"/>
            <a:chOff x="0" y="0"/>
            <a:chExt cx="4407408" cy="73152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4407408" cy="731520"/>
            </a:xfrm>
            <a:custGeom>
              <a:avLst/>
              <a:gdLst/>
              <a:ahLst/>
              <a:cxnLst/>
              <a:rect r="r" b="b" t="t" l="l"/>
              <a:pathLst>
                <a:path h="731520" w="4407408">
                  <a:moveTo>
                    <a:pt x="0" y="0"/>
                  </a:moveTo>
                  <a:lnTo>
                    <a:pt x="4407408" y="0"/>
                  </a:lnTo>
                  <a:lnTo>
                    <a:pt x="440740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7397" r="0" b="-67397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4407408" cy="7696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250"/>
                </a:lnSpc>
              </a:pPr>
              <a:r>
                <a:rPr lang="en-US" sz="1875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Original &amp; ready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0120" y="6515100"/>
            <a:ext cx="16322040" cy="548640"/>
            <a:chOff x="0" y="0"/>
            <a:chExt cx="21762720" cy="73152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679" r="0" b="-529679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217627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520"/>
                </a:lnSpc>
              </a:pPr>
              <a:r>
                <a:rPr lang="en-US" sz="2100" b="true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Flagged items loop back and are rewritten until the whole set is clean.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0120" y="7680960"/>
            <a:ext cx="16322040" cy="685800"/>
            <a:chOff x="0" y="0"/>
            <a:chExt cx="21762720" cy="9144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1762720" cy="914400"/>
            </a:xfrm>
            <a:custGeom>
              <a:avLst/>
              <a:gdLst/>
              <a:ahLst/>
              <a:cxnLst/>
              <a:rect r="r" b="b" t="t" l="l"/>
              <a:pathLst>
                <a:path h="91440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13743" r="0" b="-413743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21762720" cy="9525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sz="24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 comes back is final — original items that protect test validity, with no separate review step.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07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AT SCALE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Built for volume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2990088"/>
            <a:ext cx="16322040" cy="617220"/>
            <a:chOff x="0" y="0"/>
            <a:chExt cx="21762720" cy="82296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762720" cy="822960"/>
            </a:xfrm>
            <a:custGeom>
              <a:avLst/>
              <a:gdLst/>
              <a:ahLst/>
              <a:cxnLst/>
              <a:rect r="r" b="b" t="t" l="l"/>
              <a:pathLst>
                <a:path h="82296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5270" r="0" b="-46527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57150"/>
              <a:ext cx="21762720" cy="880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6B728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Generation isn't one question at a time — it's a pipeline that keeps running.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4114800"/>
            <a:ext cx="5253228" cy="3634740"/>
            <a:chOff x="0" y="0"/>
            <a:chExt cx="7004304" cy="4846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40180" y="4608576"/>
            <a:ext cx="576072" cy="576072"/>
            <a:chOff x="0" y="0"/>
            <a:chExt cx="768096" cy="768096"/>
          </a:xfrm>
        </p:grpSpPr>
        <p:sp>
          <p:nvSpPr>
            <p:cNvPr name="Freeform 27" id="2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1440180" y="5349240"/>
            <a:ext cx="4293108" cy="960120"/>
            <a:chOff x="0" y="0"/>
            <a:chExt cx="5724144" cy="12801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Runs in the background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440180" y="6172200"/>
            <a:ext cx="4320540" cy="1371600"/>
            <a:chOff x="0" y="0"/>
            <a:chExt cx="5760720" cy="1828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Once started, generation runs server-side and keeps going — you don't wait on the screen.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6487668" y="4114800"/>
            <a:ext cx="5253228" cy="3634740"/>
            <a:chOff x="0" y="0"/>
            <a:chExt cx="7004304" cy="4846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6967728" y="4608576"/>
            <a:ext cx="576072" cy="576072"/>
            <a:chOff x="0" y="0"/>
            <a:chExt cx="768096" cy="768096"/>
          </a:xfrm>
        </p:grpSpPr>
        <p:sp>
          <p:nvSpPr>
            <p:cNvPr name="Freeform 37" id="3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6967728" y="5349240"/>
            <a:ext cx="4293108" cy="960120"/>
            <a:chOff x="0" y="0"/>
            <a:chExt cx="5724144" cy="12801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Batches of 50, in parallel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6967728" y="6172200"/>
            <a:ext cx="4320540" cy="1371600"/>
            <a:chOff x="0" y="0"/>
            <a:chExt cx="5760720" cy="1828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Questions are produced 50 at a time, in parallel, so large sets come back fast.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2015216" y="4114800"/>
            <a:ext cx="5253228" cy="3634740"/>
            <a:chOff x="0" y="0"/>
            <a:chExt cx="7004304" cy="4846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7004304" cy="4846320"/>
            </a:xfrm>
            <a:custGeom>
              <a:avLst/>
              <a:gdLst/>
              <a:ahLst/>
              <a:cxnLst/>
              <a:rect r="r" b="b" t="t" l="l"/>
              <a:pathLst>
                <a:path h="4846320" w="70043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6858000" y="0"/>
                  </a:lnTo>
                  <a:cubicBezTo>
                    <a:pt x="6938772" y="0"/>
                    <a:pt x="7004304" y="65532"/>
                    <a:pt x="7004304" y="146304"/>
                  </a:cubicBezTo>
                  <a:lnTo>
                    <a:pt x="7004304" y="4700016"/>
                  </a:lnTo>
                  <a:cubicBezTo>
                    <a:pt x="7004304" y="4780788"/>
                    <a:pt x="6938772" y="4846320"/>
                    <a:pt x="6858000" y="4846320"/>
                  </a:cubicBezTo>
                  <a:lnTo>
                    <a:pt x="146304" y="4846320"/>
                  </a:lnTo>
                  <a:cubicBezTo>
                    <a:pt x="65532" y="4846320"/>
                    <a:pt x="0" y="4780788"/>
                    <a:pt x="0" y="470001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2495276" y="4608576"/>
            <a:ext cx="576072" cy="576072"/>
            <a:chOff x="0" y="0"/>
            <a:chExt cx="768096" cy="768096"/>
          </a:xfrm>
        </p:grpSpPr>
        <p:sp>
          <p:nvSpPr>
            <p:cNvPr name="Freeform 47" id="47" descr="preencoded.png"/>
            <p:cNvSpPr/>
            <p:nvPr/>
          </p:nvSpPr>
          <p:spPr>
            <a:xfrm flipH="false" flipV="false" rot="0">
              <a:off x="0" y="0"/>
              <a:ext cx="768096" cy="768096"/>
            </a:xfrm>
            <a:custGeom>
              <a:avLst/>
              <a:gdLst/>
              <a:ahLst/>
              <a:cxnLst/>
              <a:rect r="r" b="b" t="t" l="l"/>
              <a:pathLst>
                <a:path h="768096" w="768096">
                  <a:moveTo>
                    <a:pt x="0" y="0"/>
                  </a:moveTo>
                  <a:lnTo>
                    <a:pt x="768096" y="0"/>
                  </a:lnTo>
                  <a:lnTo>
                    <a:pt x="768096" y="768096"/>
                  </a:lnTo>
                  <a:lnTo>
                    <a:pt x="0" y="7680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2495276" y="5349240"/>
            <a:ext cx="4293108" cy="960120"/>
            <a:chOff x="0" y="0"/>
            <a:chExt cx="5724144" cy="128016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724144" cy="1280160"/>
            </a:xfrm>
            <a:custGeom>
              <a:avLst/>
              <a:gdLst/>
              <a:ahLst/>
              <a:cxnLst/>
              <a:rect r="r" b="b" t="t" l="l"/>
              <a:pathLst>
                <a:path h="1280160" w="5724144">
                  <a:moveTo>
                    <a:pt x="0" y="0"/>
                  </a:moveTo>
                  <a:lnTo>
                    <a:pt x="5724144" y="0"/>
                  </a:lnTo>
                  <a:lnTo>
                    <a:pt x="572414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7125" r="0" b="-37125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47625"/>
              <a:ext cx="572414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70"/>
                </a:lnSpc>
              </a:pPr>
              <a:r>
                <a:rPr lang="en-US" sz="2475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Mettl-ready export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2495276" y="6172200"/>
            <a:ext cx="4320540" cy="1371600"/>
            <a:chOff x="0" y="0"/>
            <a:chExt cx="5760720" cy="1828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760720" cy="1828800"/>
            </a:xfrm>
            <a:custGeom>
              <a:avLst/>
              <a:gdLst/>
              <a:ahLst/>
              <a:cxnLst/>
              <a:rect r="r" b="b" t="t" l="l"/>
              <a:pathLst>
                <a:path h="1828800" w="5760720">
                  <a:moveTo>
                    <a:pt x="0" y="0"/>
                  </a:moveTo>
                  <a:lnTo>
                    <a:pt x="5760720" y="0"/>
                  </a:lnTo>
                  <a:lnTo>
                    <a:pt x="576072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377" r="0" b="-11377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57150"/>
              <a:ext cx="5760720" cy="1885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3"/>
                </a:lnSpc>
              </a:pPr>
              <a:r>
                <a:rPr lang="en-US" sz="2025">
                  <a:solidFill>
                    <a:srgbClr val="333333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Output downloads in Mercer Mettl's bulk-upload format — ready to import.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08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STATUS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Where it stands today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017520"/>
            <a:ext cx="9052560" cy="822960"/>
            <a:chOff x="0" y="0"/>
            <a:chExt cx="12070080" cy="109728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20700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2070080">
                  <a:moveTo>
                    <a:pt x="0" y="0"/>
                  </a:moveTo>
                  <a:lnTo>
                    <a:pt x="12070080" y="0"/>
                  </a:lnTo>
                  <a:lnTo>
                    <a:pt x="1207008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66675"/>
              <a:ext cx="12070080" cy="11639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960"/>
                </a:lnSpc>
              </a:pPr>
              <a:r>
                <a:rPr lang="en-US" sz="33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Live and in use, internally.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87552" y="4416552"/>
            <a:ext cx="438912" cy="438912"/>
            <a:chOff x="0" y="0"/>
            <a:chExt cx="585216" cy="585216"/>
          </a:xfrm>
        </p:grpSpPr>
        <p:sp>
          <p:nvSpPr>
            <p:cNvPr name="Freeform 25" id="25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645920" y="4322445"/>
            <a:ext cx="8366760" cy="102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250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Deployed and running, built on Claude's API.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87552" y="5541264"/>
            <a:ext cx="438912" cy="438912"/>
            <a:chOff x="0" y="0"/>
            <a:chExt cx="585216" cy="585216"/>
          </a:xfrm>
        </p:grpSpPr>
        <p:sp>
          <p:nvSpPr>
            <p:cNvPr name="Freeform 28" id="28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645920" y="5447157"/>
            <a:ext cx="8366760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250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Available for the team to use testing now.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87552" y="6665976"/>
            <a:ext cx="438912" cy="438912"/>
            <a:chOff x="0" y="0"/>
            <a:chExt cx="585216" cy="585216"/>
          </a:xfrm>
        </p:grpSpPr>
        <p:sp>
          <p:nvSpPr>
            <p:cNvPr name="Freeform 31" id="31" descr="preencoded.png"/>
            <p:cNvSpPr/>
            <p:nvPr/>
          </p:nvSpPr>
          <p:spPr>
            <a:xfrm flipH="false" flipV="false" rot="0">
              <a:off x="0" y="0"/>
              <a:ext cx="585216" cy="585216"/>
            </a:xfrm>
            <a:custGeom>
              <a:avLst/>
              <a:gdLst/>
              <a:ahLst/>
              <a:cxnLst/>
              <a:rect r="r" b="b" t="t" l="l"/>
              <a:pathLst>
                <a:path h="585216" w="585216">
                  <a:moveTo>
                    <a:pt x="0" y="0"/>
                  </a:moveTo>
                  <a:lnTo>
                    <a:pt x="585216" y="0"/>
                  </a:lnTo>
                  <a:lnTo>
                    <a:pt x="585216" y="585216"/>
                  </a:lnTo>
                  <a:lnTo>
                    <a:pt x="0" y="5852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1645920" y="6571869"/>
            <a:ext cx="8366760" cy="102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250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Live demo ready — real generations, originality loop on screen.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0889932" y="3689033"/>
            <a:ext cx="6406515" cy="3937635"/>
            <a:chOff x="0" y="0"/>
            <a:chExt cx="8542020" cy="525018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542020" cy="5250180"/>
            </a:xfrm>
            <a:custGeom>
              <a:avLst/>
              <a:gdLst/>
              <a:ahLst/>
              <a:cxnLst/>
              <a:rect r="r" b="b" t="t" l="l"/>
              <a:pathLst>
                <a:path h="5250180" w="8542020">
                  <a:moveTo>
                    <a:pt x="0" y="110490"/>
                  </a:moveTo>
                  <a:cubicBezTo>
                    <a:pt x="0" y="49530"/>
                    <a:pt x="49530" y="0"/>
                    <a:pt x="110490" y="0"/>
                  </a:cubicBezTo>
                  <a:lnTo>
                    <a:pt x="8431530" y="0"/>
                  </a:lnTo>
                  <a:cubicBezTo>
                    <a:pt x="8492617" y="0"/>
                    <a:pt x="8542020" y="49530"/>
                    <a:pt x="8542020" y="110490"/>
                  </a:cubicBezTo>
                  <a:lnTo>
                    <a:pt x="8542020" y="5139690"/>
                  </a:lnTo>
                  <a:cubicBezTo>
                    <a:pt x="8542020" y="5200777"/>
                    <a:pt x="8492490" y="5250180"/>
                    <a:pt x="8431530" y="5250180"/>
                  </a:cubicBezTo>
                  <a:lnTo>
                    <a:pt x="110490" y="5250180"/>
                  </a:lnTo>
                  <a:cubicBezTo>
                    <a:pt x="49403" y="5250180"/>
                    <a:pt x="0" y="5200650"/>
                    <a:pt x="0" y="5139690"/>
                  </a:cubicBezTo>
                  <a:close/>
                </a:path>
              </a:pathLst>
            </a:custGeom>
            <a:solidFill>
              <a:srgbClr val="EEF2F7"/>
            </a:solidFill>
            <a:ln w="28575" cap="sq">
              <a:solidFill>
                <a:srgbClr val="003865"/>
              </a:solidFill>
              <a:prstDash val="dash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11247120" y="3977640"/>
            <a:ext cx="2743200" cy="411480"/>
            <a:chOff x="0" y="0"/>
            <a:chExt cx="3657600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657600" cy="548640"/>
            </a:xfrm>
            <a:custGeom>
              <a:avLst/>
              <a:gdLst/>
              <a:ahLst/>
              <a:cxnLst/>
              <a:rect r="r" b="b" t="t" l="l"/>
              <a:pathLst>
                <a:path h="548640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00" r="0" b="-7990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3657600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b="true" sz="165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DEMO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681710" y="5006340"/>
            <a:ext cx="822960" cy="822960"/>
            <a:chOff x="0" y="0"/>
            <a:chExt cx="1097280" cy="1097280"/>
          </a:xfrm>
        </p:grpSpPr>
        <p:sp>
          <p:nvSpPr>
            <p:cNvPr name="Freeform 39" id="39" descr="preencoded.png"/>
            <p:cNvSpPr/>
            <p:nvPr/>
          </p:nvSpPr>
          <p:spPr>
            <a:xfrm flipH="false" flipV="false" rot="0">
              <a:off x="0" y="0"/>
              <a:ext cx="1097280" cy="1097280"/>
            </a:xfrm>
            <a:custGeom>
              <a:avLst/>
              <a:gdLst/>
              <a:ahLst/>
              <a:cxnLst/>
              <a:rect r="r" b="b" t="t" l="l"/>
              <a:pathLst>
                <a:path h="1097280" w="1097280">
                  <a:moveTo>
                    <a:pt x="0" y="0"/>
                  </a:moveTo>
                  <a:lnTo>
                    <a:pt x="1097280" y="0"/>
                  </a:lnTo>
                  <a:lnTo>
                    <a:pt x="1097280" y="1097280"/>
                  </a:lnTo>
                  <a:lnTo>
                    <a:pt x="0" y="1097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0904220" y="5966460"/>
            <a:ext cx="6377940" cy="480060"/>
            <a:chOff x="0" y="0"/>
            <a:chExt cx="8503920" cy="6400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503920" cy="640080"/>
            </a:xfrm>
            <a:custGeom>
              <a:avLst/>
              <a:gdLst/>
              <a:ahLst/>
              <a:cxnLst/>
              <a:rect r="r" b="b" t="t" l="l"/>
              <a:pathLst>
                <a:path h="640080" w="8503920">
                  <a:moveTo>
                    <a:pt x="0" y="0"/>
                  </a:moveTo>
                  <a:lnTo>
                    <a:pt x="8503920" y="0"/>
                  </a:lnTo>
                  <a:lnTo>
                    <a:pt x="8503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872" r="0" b="-208872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8503920" cy="6972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700"/>
                </a:lnSpc>
              </a:pPr>
              <a:r>
                <a:rPr lang="en-US" sz="22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Walkthrough GIF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0904220" y="6515100"/>
            <a:ext cx="6377940" cy="480060"/>
            <a:chOff x="0" y="0"/>
            <a:chExt cx="8503920" cy="640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503920" cy="640080"/>
            </a:xfrm>
            <a:custGeom>
              <a:avLst/>
              <a:gdLst/>
              <a:ahLst/>
              <a:cxnLst/>
              <a:rect r="r" b="b" t="t" l="l"/>
              <a:pathLst>
                <a:path h="640080" w="8503920">
                  <a:moveTo>
                    <a:pt x="0" y="0"/>
                  </a:moveTo>
                  <a:lnTo>
                    <a:pt x="8503920" y="0"/>
                  </a:lnTo>
                  <a:lnTo>
                    <a:pt x="8503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8872" r="0" b="-208872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8503920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rPr lang="en-US" sz="1800" i="true">
                  <a:solidFill>
                    <a:srgbClr val="6B728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Screen recording of the tool in action goes here.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09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0120" y="1399032"/>
            <a:ext cx="16322040" cy="411480"/>
            <a:chOff x="0" y="0"/>
            <a:chExt cx="2176272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1762720" cy="548640"/>
            </a:xfrm>
            <a:custGeom>
              <a:avLst/>
              <a:gdLst/>
              <a:ahLst/>
              <a:cxnLst/>
              <a:rect r="r" b="b" t="t" l="l"/>
              <a:pathLst>
                <a:path h="54864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2906" r="0" b="-722906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176272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ROADMAP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932688" y="1810512"/>
            <a:ext cx="16459200" cy="960120"/>
            <a:chOff x="0" y="0"/>
            <a:chExt cx="21945600" cy="128016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945600" cy="1280160"/>
            </a:xfrm>
            <a:custGeom>
              <a:avLst/>
              <a:gdLst/>
              <a:ahLst/>
              <a:cxnLst/>
              <a:rect r="r" b="b" t="t" l="l"/>
              <a:pathLst>
                <a:path h="128016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029" r="0" b="-2840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0"/>
              <a:ext cx="21945600" cy="13754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What's next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60120" y="3429000"/>
            <a:ext cx="6922531" cy="5486400"/>
            <a:chOff x="0" y="0"/>
            <a:chExt cx="9230042" cy="73152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230042" cy="7315200"/>
            </a:xfrm>
            <a:custGeom>
              <a:avLst/>
              <a:gdLst/>
              <a:ahLst/>
              <a:cxnLst/>
              <a:rect r="r" b="b" t="t" l="l"/>
              <a:pathLst>
                <a:path h="7315200" w="9230042">
                  <a:moveTo>
                    <a:pt x="0" y="146304"/>
                  </a:moveTo>
                  <a:cubicBezTo>
                    <a:pt x="0" y="65532"/>
                    <a:pt x="86356" y="0"/>
                    <a:pt x="192795" y="0"/>
                  </a:cubicBezTo>
                  <a:lnTo>
                    <a:pt x="9037247" y="0"/>
                  </a:lnTo>
                  <a:cubicBezTo>
                    <a:pt x="9143685" y="0"/>
                    <a:pt x="9230042" y="65532"/>
                    <a:pt x="9230042" y="146304"/>
                  </a:cubicBezTo>
                  <a:lnTo>
                    <a:pt x="9230042" y="7168896"/>
                  </a:lnTo>
                  <a:cubicBezTo>
                    <a:pt x="9230042" y="7249668"/>
                    <a:pt x="9143685" y="7315200"/>
                    <a:pt x="9037247" y="7315200"/>
                  </a:cubicBezTo>
                  <a:lnTo>
                    <a:pt x="192795" y="7315200"/>
                  </a:lnTo>
                  <a:cubicBezTo>
                    <a:pt x="86356" y="7315200"/>
                    <a:pt x="0" y="7249668"/>
                    <a:pt x="0" y="71688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440180" y="3922776"/>
            <a:ext cx="301752" cy="301752"/>
            <a:chOff x="0" y="0"/>
            <a:chExt cx="402336" cy="40233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892808" y="3840480"/>
            <a:ext cx="3881628" cy="548640"/>
            <a:chOff x="0" y="0"/>
            <a:chExt cx="5175504" cy="73152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856" r="0" b="-87856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57150"/>
              <a:ext cx="5175504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NOW · IN USE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81328" y="4665345"/>
            <a:ext cx="9596924" cy="2148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Two modes — samples or topic + type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Lighter / heavier model selection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Inline plagiarism self-correction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Parallel batch generation — 50 at a time</a:t>
            </a:r>
          </a:p>
          <a:p>
            <a:pPr algn="l" marL="496345" indent="-248173" lvl="1">
              <a:lnSpc>
                <a:spcPts val="3356"/>
              </a:lnSpc>
              <a:buFont typeface="Arial"/>
              <a:buChar char="•"/>
            </a:pPr>
            <a:r>
              <a:rPr lang="en-US" sz="2742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Export in Mettl bulk-upload format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326880" y="3429000"/>
            <a:ext cx="7667244" cy="5486400"/>
            <a:chOff x="0" y="0"/>
            <a:chExt cx="10222992" cy="73152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22992" cy="7315200"/>
            </a:xfrm>
            <a:custGeom>
              <a:avLst/>
              <a:gdLst/>
              <a:ahLst/>
              <a:cxnLst/>
              <a:rect r="r" b="b" t="t" l="l"/>
              <a:pathLst>
                <a:path h="7315200" w="10222992">
                  <a:moveTo>
                    <a:pt x="0" y="146304"/>
                  </a:moveTo>
                  <a:cubicBezTo>
                    <a:pt x="0" y="65532"/>
                    <a:pt x="95646" y="0"/>
                    <a:pt x="213535" y="0"/>
                  </a:cubicBezTo>
                  <a:lnTo>
                    <a:pt x="10009457" y="0"/>
                  </a:lnTo>
                  <a:cubicBezTo>
                    <a:pt x="10127346" y="0"/>
                    <a:pt x="10222992" y="65532"/>
                    <a:pt x="10222992" y="146304"/>
                  </a:cubicBezTo>
                  <a:lnTo>
                    <a:pt x="10222992" y="7168896"/>
                  </a:lnTo>
                  <a:cubicBezTo>
                    <a:pt x="10222992" y="7249668"/>
                    <a:pt x="10127346" y="7315200"/>
                    <a:pt x="10009457" y="7315200"/>
                  </a:cubicBezTo>
                  <a:lnTo>
                    <a:pt x="213535" y="7315200"/>
                  </a:lnTo>
                  <a:cubicBezTo>
                    <a:pt x="95646" y="7315200"/>
                    <a:pt x="0" y="7249668"/>
                    <a:pt x="0" y="7168896"/>
                  </a:cubicBezTo>
                  <a:close/>
                </a:path>
              </a:pathLst>
            </a:custGeom>
            <a:solidFill>
              <a:srgbClr val="F4F6F9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993340" y="3840480"/>
            <a:ext cx="301752" cy="301752"/>
            <a:chOff x="0" y="0"/>
            <a:chExt cx="402336" cy="40233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02336" cy="402336"/>
            </a:xfrm>
            <a:custGeom>
              <a:avLst/>
              <a:gdLst/>
              <a:ahLst/>
              <a:cxnLst/>
              <a:rect r="r" b="b" t="t" l="l"/>
              <a:pathLst>
                <a:path h="402336" w="402336">
                  <a:moveTo>
                    <a:pt x="0" y="0"/>
                  </a:moveTo>
                  <a:lnTo>
                    <a:pt x="402336" y="0"/>
                  </a:lnTo>
                  <a:lnTo>
                    <a:pt x="402336" y="402336"/>
                  </a:lnTo>
                  <a:lnTo>
                    <a:pt x="0" y="4023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0447492" y="3799332"/>
            <a:ext cx="3881628" cy="548640"/>
            <a:chOff x="0" y="0"/>
            <a:chExt cx="5175504" cy="73152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75504" cy="731520"/>
            </a:xfrm>
            <a:custGeom>
              <a:avLst/>
              <a:gdLst/>
              <a:ahLst/>
              <a:cxnLst/>
              <a:rect r="r" b="b" t="t" l="l"/>
              <a:pathLst>
                <a:path h="731520" w="5175504">
                  <a:moveTo>
                    <a:pt x="0" y="0"/>
                  </a:moveTo>
                  <a:lnTo>
                    <a:pt x="5175504" y="0"/>
                  </a:lnTo>
                  <a:lnTo>
                    <a:pt x="51755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7856" r="0" b="-8785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57150"/>
              <a:ext cx="5175504" cy="7886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225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NEXT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9804959" y="4665345"/>
            <a:ext cx="6654241" cy="2293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Auto-scale by defined skills — generate until the target count is reached</a:t>
            </a:r>
          </a:p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Direct upload to the Mettl platform</a:t>
            </a:r>
          </a:p>
          <a:p>
            <a:pPr algn="l" marL="530929" indent="-265464" lvl="1">
              <a:lnSpc>
                <a:spcPts val="3590"/>
              </a:lnSpc>
              <a:buFont typeface="Arial"/>
              <a:buChar char="•"/>
            </a:pPr>
            <a:r>
              <a:rPr lang="en-US" sz="2933">
                <a:solidFill>
                  <a:srgbClr val="333333"/>
                </a:solidFill>
                <a:latin typeface="Calibri (MS)"/>
                <a:ea typeface="Calibri (MS)"/>
                <a:cs typeface="Calibri (MS)"/>
                <a:sym typeface="Calibri (MS)"/>
              </a:rPr>
              <a:t>Judge0 integration — real-time code compilation &amp; verification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987552"/>
            <a:chOff x="0" y="0"/>
            <a:chExt cx="24377904" cy="131673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16736"/>
            </a:xfrm>
            <a:custGeom>
              <a:avLst/>
              <a:gdLst/>
              <a:ahLst/>
              <a:cxnLst/>
              <a:rect r="r" b="b" t="t" l="l"/>
              <a:pathLst>
                <a:path h="131673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16736"/>
                  </a:lnTo>
                  <a:lnTo>
                    <a:pt x="0" y="131673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754380" y="0"/>
            <a:ext cx="8229600" cy="987552"/>
            <a:chOff x="0" y="0"/>
            <a:chExt cx="10972800" cy="13167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972800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10972800" cy="136436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300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MERCER  |  METTL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326880" y="0"/>
            <a:ext cx="8202168" cy="987552"/>
            <a:chOff x="0" y="0"/>
            <a:chExt cx="10936224" cy="13167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936224" cy="1316736"/>
            </a:xfrm>
            <a:custGeom>
              <a:avLst/>
              <a:gdLst/>
              <a:ahLst/>
              <a:cxnLst/>
              <a:rect r="r" b="b" t="t" l="l"/>
              <a:pathLst>
                <a:path h="1316736" w="10936224">
                  <a:moveTo>
                    <a:pt x="0" y="0"/>
                  </a:moveTo>
                  <a:lnTo>
                    <a:pt x="10936224" y="0"/>
                  </a:lnTo>
                  <a:lnTo>
                    <a:pt x="10936224" y="1316736"/>
                  </a:lnTo>
                  <a:lnTo>
                    <a:pt x="0" y="131673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1834" r="0" b="-111834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10936224" cy="134531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80"/>
                </a:lnSpc>
              </a:pPr>
              <a:r>
                <a:rPr lang="en-US" sz="1650">
                  <a:solidFill>
                    <a:srgbClr val="CFE0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MCQ Gen AI Creation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0" y="9848088"/>
            <a:ext cx="18283428" cy="438912"/>
            <a:chOff x="0" y="0"/>
            <a:chExt cx="24377904" cy="5852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7904" cy="585216"/>
            </a:xfrm>
            <a:custGeom>
              <a:avLst/>
              <a:gdLst/>
              <a:ahLst/>
              <a:cxnLst/>
              <a:rect r="r" b="b" t="t" l="l"/>
              <a:pathLst>
                <a:path h="585216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585216"/>
                  </a:lnTo>
                  <a:lnTo>
                    <a:pt x="0" y="585216"/>
                  </a:lnTo>
                  <a:close/>
                </a:path>
              </a:pathLst>
            </a:custGeom>
            <a:solidFill>
              <a:srgbClr val="003865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6459200" y="9848088"/>
            <a:ext cx="1069848" cy="438912"/>
            <a:chOff x="0" y="0"/>
            <a:chExt cx="1426464" cy="58521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6464" cy="585216"/>
            </a:xfrm>
            <a:custGeom>
              <a:avLst/>
              <a:gdLst/>
              <a:ahLst/>
              <a:cxnLst/>
              <a:rect r="r" b="b" t="t" l="l"/>
              <a:pathLst>
                <a:path h="585216" w="1426464">
                  <a:moveTo>
                    <a:pt x="0" y="0"/>
                  </a:moveTo>
                  <a:lnTo>
                    <a:pt x="1426464" y="0"/>
                  </a:lnTo>
                  <a:lnTo>
                    <a:pt x="1426464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37" t="0" r="-2637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426464" cy="61379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620"/>
                </a:lnSpc>
              </a:pPr>
              <a:r>
                <a:rPr lang="en-US" sz="1350">
                  <a:solidFill>
                    <a:srgbClr val="BFD2E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4440" y="3223260"/>
            <a:ext cx="96012" cy="1371600"/>
            <a:chOff x="0" y="0"/>
            <a:chExt cx="128016" cy="1828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8016" cy="1828800"/>
            </a:xfrm>
            <a:custGeom>
              <a:avLst/>
              <a:gdLst/>
              <a:ahLst/>
              <a:cxnLst/>
              <a:rect r="r" b="b" t="t" l="l"/>
              <a:pathLst>
                <a:path h="1828800" w="128016">
                  <a:moveTo>
                    <a:pt x="0" y="0"/>
                  </a:moveTo>
                  <a:lnTo>
                    <a:pt x="128016" y="0"/>
                  </a:lnTo>
                  <a:lnTo>
                    <a:pt x="128016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89CE39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618488" y="3154680"/>
            <a:ext cx="10972800" cy="411480"/>
            <a:chOff x="0" y="0"/>
            <a:chExt cx="14630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4630400" cy="596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450">
                  <a:solidFill>
                    <a:srgbClr val="5E8C1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 SUMMARY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77340" y="3593592"/>
            <a:ext cx="15636240" cy="1234440"/>
            <a:chOff x="0" y="0"/>
            <a:chExt cx="20848320" cy="16459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0848320" cy="1645920"/>
            </a:xfrm>
            <a:custGeom>
              <a:avLst/>
              <a:gdLst/>
              <a:ahLst/>
              <a:cxnLst/>
              <a:rect r="r" b="b" t="t" l="l"/>
              <a:pathLst>
                <a:path h="1645920" w="20848320">
                  <a:moveTo>
                    <a:pt x="0" y="0"/>
                  </a:moveTo>
                  <a:lnTo>
                    <a:pt x="20848320" y="0"/>
                  </a:lnTo>
                  <a:lnTo>
                    <a:pt x="2084832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6810" r="0" b="-19681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04775"/>
              <a:ext cx="20848320" cy="17506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940"/>
                </a:lnSpc>
              </a:pPr>
              <a:r>
                <a:rPr lang="en-US" sz="4950" b="true">
                  <a:solidFill>
                    <a:srgbClr val="003865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Thank You!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DAHLTXlsYmY</dc:identifier>
  <dcterms:modified xsi:type="dcterms:W3CDTF">2011-08-01T06:04:30Z</dcterms:modified>
  <cp:revision>1</cp:revision>
  <dc:title>MCQ_GenAI_Creation_Showcase.pptx</dc:title>
</cp:coreProperties>
</file>