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2.xml" Type="http://schemas.openxmlformats.org/officeDocument/2006/relationships/notesSlide"/><Relationship Id="rId22" Target="notesSlides/notesSlide3.xml" Type="http://schemas.openxmlformats.org/officeDocument/2006/relationships/notesSlide"/><Relationship Id="rId23" Target="notesSlides/notesSlide4.xml" Type="http://schemas.openxmlformats.org/officeDocument/2006/relationships/notesSlide"/><Relationship Id="rId24" Target="notesSlides/notesSlide5.xml" Type="http://schemas.openxmlformats.org/officeDocument/2006/relationships/notesSlide"/><Relationship Id="rId25" Target="notesSlides/notesSlide6.xml" Type="http://schemas.openxmlformats.org/officeDocument/2006/relationships/notesSlide"/><Relationship Id="rId26" Target="notesSlides/notesSlide7.xml" Type="http://schemas.openxmlformats.org/officeDocument/2006/relationships/notesSlide"/><Relationship Id="rId27" Target="notesSlides/notesSlide8.xml" Type="http://schemas.openxmlformats.org/officeDocument/2006/relationships/notesSlide"/><Relationship Id="rId28" Target="notesSlides/notesSlide9.xml" Type="http://schemas.openxmlformats.org/officeDocument/2006/relationships/notesSlide"/><Relationship Id="rId29" Target="notesSlides/notesSlide10.xml" Type="http://schemas.openxmlformats.org/officeDocument/2006/relationships/notes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2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8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7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5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6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9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10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3.png" Type="http://schemas.openxmlformats.org/officeDocument/2006/relationships/image"/><Relationship Id="rId6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8.jpeg" Type="http://schemas.openxmlformats.org/officeDocument/2006/relationships/image"/><Relationship Id="rId6" Target="../media/VAHLUErP6Xs.mp4" Type="http://schemas.openxmlformats.org/officeDocument/2006/relationships/video"/><Relationship Id="rId7" Target="../media/VAHLUErP6Xs.mp4" Type="http://schemas.microsoft.com/office/2007/relationships/media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9.jpeg" Type="http://schemas.openxmlformats.org/officeDocument/2006/relationships/image"/><Relationship Id="rId6" Target="../media/VAHLUIVUFIo.mp4" Type="http://schemas.openxmlformats.org/officeDocument/2006/relationships/video"/><Relationship Id="rId7" Target="../media/VAHLUIVUFIo.mp4" Type="http://schemas.microsoft.com/office/2007/relationships/media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10.png" Type="http://schemas.openxmlformats.org/officeDocument/2006/relationships/image"/><Relationship Id="rId6" Target="../media/image3.png" Type="http://schemas.openxmlformats.org/officeDocument/2006/relationships/image"/><Relationship Id="rId7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Relationship Id="rId4" Target="../media/image2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01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4440" y="3429000"/>
            <a:ext cx="96012" cy="2125980"/>
            <a:chOff x="0" y="0"/>
            <a:chExt cx="128016" cy="2834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8016" cy="2834640"/>
            </a:xfrm>
            <a:custGeom>
              <a:avLst/>
              <a:gdLst/>
              <a:ahLst/>
              <a:cxnLst/>
              <a:rect r="r" b="b" t="t" l="l"/>
              <a:pathLst>
                <a:path h="2834640" w="128016">
                  <a:moveTo>
                    <a:pt x="0" y="0"/>
                  </a:moveTo>
                  <a:lnTo>
                    <a:pt x="128016" y="0"/>
                  </a:lnTo>
                  <a:lnTo>
                    <a:pt x="128016" y="2834640"/>
                  </a:lnTo>
                  <a:lnTo>
                    <a:pt x="0" y="2834640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577340" y="3758184"/>
            <a:ext cx="15636240" cy="1440180"/>
            <a:chOff x="0" y="0"/>
            <a:chExt cx="20848320" cy="19202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084832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1404" r="0" b="-161404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577340" y="3636740"/>
            <a:ext cx="15636240" cy="1561624"/>
            <a:chOff x="0" y="0"/>
            <a:chExt cx="20848320" cy="208216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848320" cy="2082165"/>
            </a:xfrm>
            <a:custGeom>
              <a:avLst/>
              <a:gdLst/>
              <a:ahLst/>
              <a:cxnLst/>
              <a:rect r="r" b="b" t="t" l="l"/>
              <a:pathLst>
                <a:path h="2082165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2082165"/>
                  </a:lnTo>
                  <a:lnTo>
                    <a:pt x="0" y="2082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45099" r="0" b="-14509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161925"/>
              <a:ext cx="20848320" cy="22440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000"/>
                </a:lnSpc>
              </a:pPr>
              <a:r>
                <a:rPr lang="en-US" sz="7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MCQ Gen AI Creation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618488" y="5280660"/>
            <a:ext cx="15087600" cy="685800"/>
            <a:chOff x="0" y="0"/>
            <a:chExt cx="20116800" cy="914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116800" cy="914400"/>
            </a:xfrm>
            <a:custGeom>
              <a:avLst/>
              <a:gdLst/>
              <a:ahLst/>
              <a:cxnLst/>
              <a:rect r="r" b="b" t="t" l="l"/>
              <a:pathLst>
                <a:path h="9144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8372" r="0" b="-378373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618488" y="5230654"/>
            <a:ext cx="15087600" cy="735806"/>
            <a:chOff x="0" y="0"/>
            <a:chExt cx="20116800" cy="98107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0116800" cy="981075"/>
            </a:xfrm>
            <a:custGeom>
              <a:avLst/>
              <a:gdLst/>
              <a:ahLst/>
              <a:cxnLst/>
              <a:rect r="r" b="b" t="t" l="l"/>
              <a:pathLst>
                <a:path h="981075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81075"/>
                  </a:lnTo>
                  <a:lnTo>
                    <a:pt x="0" y="9810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49537" r="0" b="-349537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66675"/>
              <a:ext cx="20116800" cy="10477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8"/>
                </a:lnSpc>
              </a:pPr>
              <a:r>
                <a:rPr lang="en-US" sz="315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AI-powered assessment question creation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618488" y="6336792"/>
            <a:ext cx="12344400" cy="685800"/>
            <a:chOff x="0" y="0"/>
            <a:chExt cx="16459200" cy="914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6459200" cy="914400"/>
            </a:xfrm>
            <a:custGeom>
              <a:avLst/>
              <a:gdLst/>
              <a:ahLst/>
              <a:cxnLst/>
              <a:rect r="r" b="b" t="t" l="l"/>
              <a:pathLst>
                <a:path h="91440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486" r="0" b="-300487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18488" y="6293930"/>
            <a:ext cx="12344400" cy="728662"/>
            <a:chOff x="0" y="0"/>
            <a:chExt cx="16459200" cy="97155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6459200" cy="971550"/>
            </a:xfrm>
            <a:custGeom>
              <a:avLst/>
              <a:gdLst/>
              <a:ahLst/>
              <a:cxnLst/>
              <a:rect r="r" b="b" t="t" l="l"/>
              <a:pathLst>
                <a:path h="97155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971550"/>
                  </a:lnTo>
                  <a:lnTo>
                    <a:pt x="0" y="9715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0099" r="0" b="-280099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16459200" cy="10287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From a sample set or just a topic — built in-house on Claude.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02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Why we built it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0120" y="2990088"/>
            <a:ext cx="16322040" cy="754380"/>
            <a:chOff x="0" y="0"/>
            <a:chExt cx="21762720" cy="1005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76272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91" r="0" b="-371292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60120" y="2961513"/>
            <a:ext cx="16322040" cy="782955"/>
            <a:chOff x="0" y="0"/>
            <a:chExt cx="21762720" cy="10439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762720" cy="1043940"/>
            </a:xfrm>
            <a:custGeom>
              <a:avLst/>
              <a:gdLst/>
              <a:ahLst/>
              <a:cxnLst/>
              <a:rect r="r" b="b" t="t" l="l"/>
              <a:pathLst>
                <a:path h="10439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43940"/>
                  </a:lnTo>
                  <a:lnTo>
                    <a:pt x="0" y="10439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56199" r="0" b="-356199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21762720" cy="1082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 produce a high volume of assessment questions in-house — and every one of them has to be original.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60120" y="4046220"/>
            <a:ext cx="7886700" cy="3429000"/>
            <a:chOff x="0" y="0"/>
            <a:chExt cx="10515600" cy="4572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5156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425696"/>
                  </a:lnTo>
                  <a:cubicBezTo>
                    <a:pt x="10515600" y="4506468"/>
                    <a:pt x="10450068" y="4572000"/>
                    <a:pt x="10369296" y="4572000"/>
                  </a:cubicBezTo>
                  <a:lnTo>
                    <a:pt x="146304" y="4572000"/>
                  </a:lnTo>
                  <a:cubicBezTo>
                    <a:pt x="65532" y="4572000"/>
                    <a:pt x="0" y="4506468"/>
                    <a:pt x="0" y="44256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9395460" y="4046220"/>
            <a:ext cx="7886700" cy="3429000"/>
            <a:chOff x="0" y="0"/>
            <a:chExt cx="10515600" cy="45720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5156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425696"/>
                  </a:lnTo>
                  <a:cubicBezTo>
                    <a:pt x="10515600" y="4506468"/>
                    <a:pt x="10450068" y="4572000"/>
                    <a:pt x="10369296" y="4572000"/>
                  </a:cubicBezTo>
                  <a:lnTo>
                    <a:pt x="146304" y="4572000"/>
                  </a:lnTo>
                  <a:cubicBezTo>
                    <a:pt x="65532" y="4572000"/>
                    <a:pt x="0" y="4506468"/>
                    <a:pt x="0" y="44256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440180" y="4485132"/>
            <a:ext cx="576072" cy="576072"/>
            <a:chOff x="0" y="0"/>
            <a:chExt cx="768096" cy="768096"/>
          </a:xfrm>
        </p:grpSpPr>
        <p:sp>
          <p:nvSpPr>
            <p:cNvPr name="Freeform 41" id="41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9875520" y="4485132"/>
            <a:ext cx="576072" cy="576072"/>
            <a:chOff x="0" y="0"/>
            <a:chExt cx="768096" cy="768096"/>
          </a:xfrm>
        </p:grpSpPr>
        <p:sp>
          <p:nvSpPr>
            <p:cNvPr name="Freeform 43" id="43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440180" y="5253228"/>
            <a:ext cx="6995160" cy="548640"/>
            <a:chOff x="0" y="0"/>
            <a:chExt cx="9326880" cy="7315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262" r="0" b="-19826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440180" y="5210366"/>
            <a:ext cx="6995160" cy="591502"/>
            <a:chOff x="0" y="0"/>
            <a:chExt cx="9326880" cy="78867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9326880" cy="788670"/>
            </a:xfrm>
            <a:custGeom>
              <a:avLst/>
              <a:gdLst/>
              <a:ahLst/>
              <a:cxnLst/>
              <a:rect r="r" b="b" t="t" l="l"/>
              <a:pathLst>
                <a:path h="78867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0431" r="0" b="-180431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57150"/>
              <a:ext cx="9326880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volume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440180" y="5911596"/>
            <a:ext cx="6995160" cy="1371600"/>
            <a:chOff x="0" y="0"/>
            <a:chExt cx="9326880" cy="18288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04" r="0" b="-49304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440180" y="5861590"/>
            <a:ext cx="6995160" cy="1421606"/>
            <a:chOff x="0" y="0"/>
            <a:chExt cx="9326880" cy="1895475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326880" cy="1895475"/>
            </a:xfrm>
            <a:custGeom>
              <a:avLst/>
              <a:gdLst/>
              <a:ahLst/>
              <a:cxnLst/>
              <a:rect r="r" b="b" t="t" l="l"/>
              <a:pathLst>
                <a:path h="1895475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95475"/>
                  </a:lnTo>
                  <a:lnTo>
                    <a:pt x="0" y="18954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5878" r="0" b="-45878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66675"/>
              <a:ext cx="9326880" cy="1962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7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Our teams author questions across many skills, roles, and difficulty levels. Collecting them from SMEs is slow and can't keep pace with demand.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9875520" y="5253228"/>
            <a:ext cx="6995160" cy="548640"/>
            <a:chOff x="0" y="0"/>
            <a:chExt cx="9326880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262" r="0" b="-19826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9875520" y="5210366"/>
            <a:ext cx="6995160" cy="591502"/>
            <a:chOff x="0" y="0"/>
            <a:chExt cx="9326880" cy="78867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9326880" cy="788670"/>
            </a:xfrm>
            <a:custGeom>
              <a:avLst/>
              <a:gdLst/>
              <a:ahLst/>
              <a:cxnLst/>
              <a:rect r="r" b="b" t="t" l="l"/>
              <a:pathLst>
                <a:path h="78867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0431" r="0" b="-180431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57150"/>
              <a:ext cx="9326880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originality bar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875520" y="5911596"/>
            <a:ext cx="6995160" cy="1371600"/>
            <a:chOff x="0" y="0"/>
            <a:chExt cx="9326880" cy="1828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04" r="0" b="-49304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9875520" y="5861590"/>
            <a:ext cx="6995160" cy="1421606"/>
            <a:chOff x="0" y="0"/>
            <a:chExt cx="9326880" cy="1895475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326880" cy="1895475"/>
            </a:xfrm>
            <a:custGeom>
              <a:avLst/>
              <a:gdLst/>
              <a:ahLst/>
              <a:cxnLst/>
              <a:rect r="r" b="b" t="t" l="l"/>
              <a:pathLst>
                <a:path h="1895475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95475"/>
                  </a:lnTo>
                  <a:lnTo>
                    <a:pt x="0" y="189547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5878" r="0" b="-45878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66675"/>
              <a:ext cx="9326880" cy="1962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7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Leaked or duplicated questions quietly undermine test validity. Originality has to be assured when a question is written — not hoped for and checked later.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960120" y="7886700"/>
            <a:ext cx="16322040" cy="685800"/>
            <a:chOff x="0" y="0"/>
            <a:chExt cx="21762720" cy="91440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420" r="0" b="-413422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960120" y="7858125"/>
            <a:ext cx="16322040" cy="714375"/>
            <a:chOff x="0" y="0"/>
            <a:chExt cx="21762720" cy="9525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21762720" cy="952500"/>
            </a:xfrm>
            <a:custGeom>
              <a:avLst/>
              <a:gdLst/>
              <a:ahLst/>
              <a:cxnLst/>
              <a:rect r="r" b="b" t="t" l="l"/>
              <a:pathLst>
                <a:path h="9525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52500"/>
                  </a:lnTo>
                  <a:lnTo>
                    <a:pt x="0" y="9525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5194" r="0" b="-395194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38100"/>
              <a:ext cx="21762720" cy="9906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MCQ Gen AI Creation was built to handle both at once — speed, without giving up originality.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03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OVERVIEW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it is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0120" y="2990088"/>
            <a:ext cx="16322040" cy="754380"/>
            <a:chOff x="0" y="0"/>
            <a:chExt cx="21762720" cy="10058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76272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91" r="0" b="-371292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60120" y="2947226"/>
            <a:ext cx="16322040" cy="797243"/>
            <a:chOff x="0" y="0"/>
            <a:chExt cx="21762720" cy="106299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762720" cy="1062990"/>
            </a:xfrm>
            <a:custGeom>
              <a:avLst/>
              <a:gdLst/>
              <a:ahLst/>
              <a:cxnLst/>
              <a:rect r="r" b="b" t="t" l="l"/>
              <a:pathLst>
                <a:path h="106299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62990"/>
                  </a:lnTo>
                  <a:lnTo>
                    <a:pt x="0" y="106299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48919" r="0" b="-348919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21762720" cy="11201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333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Turn a topic — with or without sample questions — into ready-to-use, original MCQs.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60120" y="3771900"/>
            <a:ext cx="16322040" cy="548640"/>
            <a:chOff x="0" y="0"/>
            <a:chExt cx="21762720" cy="73152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1762720" cy="731520"/>
            </a:xfrm>
            <a:custGeom>
              <a:avLst/>
              <a:gdLst/>
              <a:ahLst/>
              <a:cxnLst/>
              <a:rect r="r" b="b" t="t" l="l"/>
              <a:pathLst>
                <a:path h="7315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9276" r="0" b="-529277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960120" y="3736181"/>
            <a:ext cx="16322040" cy="584359"/>
            <a:chOff x="0" y="0"/>
            <a:chExt cx="21762720" cy="779145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1762720" cy="779145"/>
            </a:xfrm>
            <a:custGeom>
              <a:avLst/>
              <a:gdLst/>
              <a:ahLst/>
              <a:cxnLst/>
              <a:rect r="r" b="b" t="t" l="l"/>
              <a:pathLst>
                <a:path h="779145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94247" r="0" b="-494247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21762720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Built in-house on Claude's API.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60120" y="4732020"/>
            <a:ext cx="5253228" cy="3291840"/>
            <a:chOff x="0" y="0"/>
            <a:chExt cx="7004304" cy="43891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440180" y="5225796"/>
            <a:ext cx="548640" cy="548640"/>
            <a:chOff x="0" y="0"/>
            <a:chExt cx="731520" cy="731520"/>
          </a:xfrm>
        </p:grpSpPr>
        <p:sp>
          <p:nvSpPr>
            <p:cNvPr name="Freeform 44" id="44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440180" y="5939028"/>
            <a:ext cx="4293108" cy="617220"/>
            <a:chOff x="0" y="0"/>
            <a:chExt cx="5724144" cy="8229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435" r="0" b="-85435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440180" y="5903309"/>
            <a:ext cx="4293108" cy="652939"/>
            <a:chOff x="0" y="0"/>
            <a:chExt cx="5724144" cy="870585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724144" cy="870585"/>
            </a:xfrm>
            <a:custGeom>
              <a:avLst/>
              <a:gdLst/>
              <a:ahLst/>
              <a:cxnLst/>
              <a:rect r="r" b="b" t="t" l="l"/>
              <a:pathLst>
                <a:path h="870585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70585"/>
                  </a:lnTo>
                  <a:lnTo>
                    <a:pt x="0" y="8705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8115" r="0" b="-78115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47625"/>
              <a:ext cx="5724144" cy="918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ways in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440180" y="6624828"/>
            <a:ext cx="4320540" cy="1303020"/>
            <a:chOff x="0" y="0"/>
            <a:chExt cx="5760720" cy="17373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63" r="0" b="-14562"/>
              </a:stretch>
            </a:blip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440180" y="6581966"/>
            <a:ext cx="4320540" cy="1345882"/>
            <a:chOff x="0" y="0"/>
            <a:chExt cx="5760720" cy="179451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760720" cy="1794510"/>
            </a:xfrm>
            <a:custGeom>
              <a:avLst/>
              <a:gdLst/>
              <a:ahLst/>
              <a:cxnLst/>
              <a:rect r="r" b="b" t="t" l="l"/>
              <a:pathLst>
                <a:path h="179451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94510"/>
                  </a:lnTo>
                  <a:lnTo>
                    <a:pt x="0" y="17945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50" r="0" b="-1255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57150"/>
              <a:ext cx="5760720" cy="185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Start from a sample set, or from just a topic and question type.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6487668" y="4732020"/>
            <a:ext cx="5253228" cy="3291840"/>
            <a:chOff x="0" y="0"/>
            <a:chExt cx="7004304" cy="438912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967728" y="5225796"/>
            <a:ext cx="548640" cy="548640"/>
            <a:chOff x="0" y="0"/>
            <a:chExt cx="731520" cy="731520"/>
          </a:xfrm>
        </p:grpSpPr>
        <p:sp>
          <p:nvSpPr>
            <p:cNvPr name="Freeform 58" id="58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6967728" y="5939028"/>
            <a:ext cx="4293108" cy="617220"/>
            <a:chOff x="0" y="0"/>
            <a:chExt cx="5724144" cy="82296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435" r="0" b="-85435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6967728" y="5903309"/>
            <a:ext cx="4293108" cy="652939"/>
            <a:chOff x="0" y="0"/>
            <a:chExt cx="5724144" cy="870585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724144" cy="870585"/>
            </a:xfrm>
            <a:custGeom>
              <a:avLst/>
              <a:gdLst/>
              <a:ahLst/>
              <a:cxnLst/>
              <a:rect r="r" b="b" t="t" l="l"/>
              <a:pathLst>
                <a:path h="870585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70585"/>
                  </a:lnTo>
                  <a:lnTo>
                    <a:pt x="0" y="8705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8115" r="0" b="-7811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47625"/>
              <a:ext cx="5724144" cy="918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Runs at volume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967728" y="6624828"/>
            <a:ext cx="4320540" cy="1303020"/>
            <a:chOff x="0" y="0"/>
            <a:chExt cx="5760720" cy="173736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63" r="0" b="-14562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6967728" y="6581966"/>
            <a:ext cx="4320540" cy="1345882"/>
            <a:chOff x="0" y="0"/>
            <a:chExt cx="5760720" cy="179451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5760720" cy="1794510"/>
            </a:xfrm>
            <a:custGeom>
              <a:avLst/>
              <a:gdLst/>
              <a:ahLst/>
              <a:cxnLst/>
              <a:rect r="r" b="b" t="t" l="l"/>
              <a:pathLst>
                <a:path h="179451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94510"/>
                  </a:lnTo>
                  <a:lnTo>
                    <a:pt x="0" y="17945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50" r="0" b="-12550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57150"/>
              <a:ext cx="5760720" cy="185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Generates in the background, in parallel batches — not one at a time.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2015216" y="4732020"/>
            <a:ext cx="5253228" cy="3291840"/>
            <a:chOff x="0" y="0"/>
            <a:chExt cx="7004304" cy="438912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495276" y="5225796"/>
            <a:ext cx="548640" cy="548640"/>
            <a:chOff x="0" y="0"/>
            <a:chExt cx="731520" cy="731520"/>
          </a:xfrm>
        </p:grpSpPr>
        <p:sp>
          <p:nvSpPr>
            <p:cNvPr name="Freeform 72" id="72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12495276" y="5939028"/>
            <a:ext cx="4293108" cy="617220"/>
            <a:chOff x="0" y="0"/>
            <a:chExt cx="5724144" cy="82296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435" r="0" b="-85435"/>
              </a:stretch>
            </a:blip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2495276" y="5903309"/>
            <a:ext cx="4293108" cy="652939"/>
            <a:chOff x="0" y="0"/>
            <a:chExt cx="5724144" cy="870585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5724144" cy="870585"/>
            </a:xfrm>
            <a:custGeom>
              <a:avLst/>
              <a:gdLst/>
              <a:ahLst/>
              <a:cxnLst/>
              <a:rect r="r" b="b" t="t" l="l"/>
              <a:pathLst>
                <a:path h="870585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70585"/>
                  </a:lnTo>
                  <a:lnTo>
                    <a:pt x="0" y="8705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8115" r="0" b="-78115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47625"/>
              <a:ext cx="5724144" cy="918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Original by default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2495276" y="6624828"/>
            <a:ext cx="4320540" cy="1303020"/>
            <a:chOff x="0" y="0"/>
            <a:chExt cx="5760720" cy="173736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63" r="0" b="-14562"/>
              </a:stretch>
            </a:blipFill>
          </p:spPr>
        </p:sp>
      </p:grpSp>
      <p:grpSp>
        <p:nvGrpSpPr>
          <p:cNvPr name="Group 80" id="80"/>
          <p:cNvGrpSpPr/>
          <p:nvPr/>
        </p:nvGrpSpPr>
        <p:grpSpPr>
          <a:xfrm rot="0">
            <a:off x="12495276" y="6581966"/>
            <a:ext cx="4320540" cy="1345882"/>
            <a:chOff x="0" y="0"/>
            <a:chExt cx="5760720" cy="179451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5760720" cy="1794510"/>
            </a:xfrm>
            <a:custGeom>
              <a:avLst/>
              <a:gdLst/>
              <a:ahLst/>
              <a:cxnLst/>
              <a:rect r="r" b="b" t="t" l="l"/>
              <a:pathLst>
                <a:path h="179451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94510"/>
                  </a:lnTo>
                  <a:lnTo>
                    <a:pt x="0" y="17945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550" r="0" b="-12550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57150"/>
              <a:ext cx="5760720" cy="1851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Grounded on real sources, answer-checked, and self-corrected before anything reaches you.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04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 · FROM SCRATCH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Start from just a topic</a:t>
              </a:r>
            </a:p>
          </p:txBody>
        </p:sp>
      </p:grpSp>
      <p:pic>
        <p:nvPicPr>
          <p:cNvPr name="Picture 31" id="31" descr="scratch_flow.gif">
            <a:hlinkClick action="ppaction://media"/>
          </p:cNvPr>
          <p:cNvPicPr>
            <a:picLocks noChangeAspect="true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5"/>
          <a:srcRect l="37" t="0" r="37" b="0"/>
          <a:stretch>
            <a:fillRect/>
          </a:stretch>
        </p:blipFill>
        <p:spPr>
          <a:xfrm flipH="false" flipV="false" rot="0">
            <a:off x="2279647" y="2874007"/>
            <a:ext cx="13728697" cy="64500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05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 · FROM SAMPLES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Match your sample set</a:t>
              </a:r>
            </a:p>
          </p:txBody>
        </p:sp>
      </p:grpSp>
      <p:pic>
        <p:nvPicPr>
          <p:cNvPr name="Picture 31" id="31" descr="samples_flow.gif">
            <a:hlinkClick action="ppaction://media"/>
          </p:cNvPr>
          <p:cNvPicPr>
            <a:picLocks noChangeAspect="true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5"/>
          <a:srcRect l="37" t="0" r="37" b="0"/>
          <a:stretch>
            <a:fillRect/>
          </a:stretch>
        </p:blipFill>
        <p:spPr>
          <a:xfrm flipH="false" flipV="false" rot="0">
            <a:off x="2279647" y="2874007"/>
            <a:ext cx="13728697" cy="64500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06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AT SCALE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Built for volume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4912" r="0" b="-464913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60120" y="2947226"/>
            <a:ext cx="16322040" cy="660082"/>
            <a:chOff x="0" y="0"/>
            <a:chExt cx="21762720" cy="88011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762720" cy="880110"/>
            </a:xfrm>
            <a:custGeom>
              <a:avLst/>
              <a:gdLst/>
              <a:ahLst/>
              <a:cxnLst/>
              <a:rect r="r" b="b" t="t" l="l"/>
              <a:pathLst>
                <a:path h="88011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80110"/>
                  </a:lnTo>
                  <a:lnTo>
                    <a:pt x="0" y="880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31811" r="0" b="-43181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21762720" cy="937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Generation isn't one question at a time — it's a pipeline that keeps running.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60120" y="4114800"/>
            <a:ext cx="5253228" cy="3634740"/>
            <a:chOff x="0" y="0"/>
            <a:chExt cx="7004304" cy="484632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440180" y="4608576"/>
            <a:ext cx="576072" cy="576072"/>
            <a:chOff x="0" y="0"/>
            <a:chExt cx="768096" cy="768096"/>
          </a:xfrm>
        </p:grpSpPr>
        <p:sp>
          <p:nvSpPr>
            <p:cNvPr name="Freeform 39" id="39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440180" y="5349240"/>
            <a:ext cx="4293108" cy="960120"/>
            <a:chOff x="0" y="0"/>
            <a:chExt cx="5724144" cy="128016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065" r="0" b="-37065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440180" y="5313521"/>
            <a:ext cx="4293108" cy="995839"/>
            <a:chOff x="0" y="0"/>
            <a:chExt cx="5724144" cy="132778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724144" cy="1327785"/>
            </a:xfrm>
            <a:custGeom>
              <a:avLst/>
              <a:gdLst/>
              <a:ahLst/>
              <a:cxnLst/>
              <a:rect r="r" b="b" t="t" l="l"/>
              <a:pathLst>
                <a:path h="1327785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327785"/>
                  </a:lnTo>
                  <a:lnTo>
                    <a:pt x="0" y="13277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4000" r="0" b="-3400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5724144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Runs in the background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440180" y="6172200"/>
            <a:ext cx="4320540" cy="1371600"/>
            <a:chOff x="0" y="0"/>
            <a:chExt cx="5760720" cy="1828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5" r="0" b="-11334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440180" y="6129338"/>
            <a:ext cx="4320540" cy="1414462"/>
            <a:chOff x="0" y="0"/>
            <a:chExt cx="5760720" cy="188595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760720" cy="1885950"/>
            </a:xfrm>
            <a:custGeom>
              <a:avLst/>
              <a:gdLst/>
              <a:ahLst/>
              <a:cxnLst/>
              <a:rect r="r" b="b" t="t" l="l"/>
              <a:pathLst>
                <a:path h="188595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85950"/>
                  </a:lnTo>
                  <a:lnTo>
                    <a:pt x="0" y="18859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517" r="0" b="-9517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57150"/>
              <a:ext cx="5760720" cy="1943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started, generation runs server-side and keeps going — you don't wait on the screen.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6487668" y="4114800"/>
            <a:ext cx="5253228" cy="3634740"/>
            <a:chOff x="0" y="0"/>
            <a:chExt cx="7004304" cy="484632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6967728" y="4608576"/>
            <a:ext cx="576072" cy="576072"/>
            <a:chOff x="0" y="0"/>
            <a:chExt cx="768096" cy="768096"/>
          </a:xfrm>
        </p:grpSpPr>
        <p:sp>
          <p:nvSpPr>
            <p:cNvPr name="Freeform 53" id="53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967728" y="5349240"/>
            <a:ext cx="4293108" cy="960120"/>
            <a:chOff x="0" y="0"/>
            <a:chExt cx="5724144" cy="128016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065" r="0" b="-37065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6967728" y="5313521"/>
            <a:ext cx="4293108" cy="995839"/>
            <a:chOff x="0" y="0"/>
            <a:chExt cx="5724144" cy="1327785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724144" cy="1327785"/>
            </a:xfrm>
            <a:custGeom>
              <a:avLst/>
              <a:gdLst/>
              <a:ahLst/>
              <a:cxnLst/>
              <a:rect r="r" b="b" t="t" l="l"/>
              <a:pathLst>
                <a:path h="1327785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327785"/>
                  </a:lnTo>
                  <a:lnTo>
                    <a:pt x="0" y="13277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4000" r="0" b="-3400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5724144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Batches of 50, in parallel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967728" y="6172200"/>
            <a:ext cx="4320540" cy="1371600"/>
            <a:chOff x="0" y="0"/>
            <a:chExt cx="5760720" cy="1828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5" r="0" b="-11334"/>
              </a:stretch>
            </a:blipFill>
          </p:spPr>
        </p:sp>
      </p:grpSp>
      <p:grpSp>
        <p:nvGrpSpPr>
          <p:cNvPr name="Group 61" id="61"/>
          <p:cNvGrpSpPr/>
          <p:nvPr/>
        </p:nvGrpSpPr>
        <p:grpSpPr>
          <a:xfrm rot="0">
            <a:off x="6967728" y="6129338"/>
            <a:ext cx="4320540" cy="1414462"/>
            <a:chOff x="0" y="0"/>
            <a:chExt cx="5760720" cy="188595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760720" cy="1885950"/>
            </a:xfrm>
            <a:custGeom>
              <a:avLst/>
              <a:gdLst/>
              <a:ahLst/>
              <a:cxnLst/>
              <a:rect r="r" b="b" t="t" l="l"/>
              <a:pathLst>
                <a:path h="188595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85950"/>
                  </a:lnTo>
                  <a:lnTo>
                    <a:pt x="0" y="18859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517" r="0" b="-9517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57150"/>
              <a:ext cx="5760720" cy="1943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Questions are produced 50 at a time, in parallel, so large sets come back fast.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2015216" y="4114800"/>
            <a:ext cx="5253228" cy="3634740"/>
            <a:chOff x="0" y="0"/>
            <a:chExt cx="7004304" cy="484632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12495276" y="4608576"/>
            <a:ext cx="576072" cy="576072"/>
            <a:chOff x="0" y="0"/>
            <a:chExt cx="768096" cy="768096"/>
          </a:xfrm>
        </p:grpSpPr>
        <p:sp>
          <p:nvSpPr>
            <p:cNvPr name="Freeform 67" id="6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2495276" y="5349240"/>
            <a:ext cx="4293108" cy="960120"/>
            <a:chOff x="0" y="0"/>
            <a:chExt cx="5724144" cy="128016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065" r="0" b="-37065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12495276" y="5313521"/>
            <a:ext cx="4293108" cy="995839"/>
            <a:chOff x="0" y="0"/>
            <a:chExt cx="5724144" cy="1327785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724144" cy="1327785"/>
            </a:xfrm>
            <a:custGeom>
              <a:avLst/>
              <a:gdLst/>
              <a:ahLst/>
              <a:cxnLst/>
              <a:rect r="r" b="b" t="t" l="l"/>
              <a:pathLst>
                <a:path h="1327785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327785"/>
                  </a:lnTo>
                  <a:lnTo>
                    <a:pt x="0" y="132778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4000" r="0" b="-3400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5724144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Mettl-ready export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2495276" y="6172200"/>
            <a:ext cx="4320540" cy="1371600"/>
            <a:chOff x="0" y="0"/>
            <a:chExt cx="5760720" cy="182880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35" r="0" b="-11334"/>
              </a:stretch>
            </a:blipFill>
          </p:spPr>
        </p:sp>
      </p:grpSp>
      <p:grpSp>
        <p:nvGrpSpPr>
          <p:cNvPr name="Group 75" id="75"/>
          <p:cNvGrpSpPr/>
          <p:nvPr/>
        </p:nvGrpSpPr>
        <p:grpSpPr>
          <a:xfrm rot="0">
            <a:off x="12495276" y="6129338"/>
            <a:ext cx="4320540" cy="1414462"/>
            <a:chOff x="0" y="0"/>
            <a:chExt cx="5760720" cy="188595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5760720" cy="1885950"/>
            </a:xfrm>
            <a:custGeom>
              <a:avLst/>
              <a:gdLst/>
              <a:ahLst/>
              <a:cxnLst/>
              <a:rect r="r" b="b" t="t" l="l"/>
              <a:pathLst>
                <a:path h="188595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85950"/>
                  </a:lnTo>
                  <a:lnTo>
                    <a:pt x="0" y="18859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9517" r="0" b="-9517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57150"/>
              <a:ext cx="5760720" cy="19431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Output downloads in Mercer Mettl's bulk-upload format — ready to import.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07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WORKFLOW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How it works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4912" r="0" b="-464913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32688" y="2638616"/>
            <a:ext cx="16322040" cy="660082"/>
            <a:chOff x="0" y="0"/>
            <a:chExt cx="21762720" cy="88011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762720" cy="880110"/>
            </a:xfrm>
            <a:custGeom>
              <a:avLst/>
              <a:gdLst/>
              <a:ahLst/>
              <a:cxnLst/>
              <a:rect r="r" b="b" t="t" l="l"/>
              <a:pathLst>
                <a:path h="88011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80110"/>
                  </a:lnTo>
                  <a:lnTo>
                    <a:pt x="0" y="880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31811" r="0" b="-43181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21762720" cy="937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From a topic to a verified, upload-ready question set — in six steps.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71703" y="3287078"/>
            <a:ext cx="5267325" cy="2398681"/>
            <a:chOff x="0" y="0"/>
            <a:chExt cx="7023100" cy="319824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023100" cy="3198241"/>
            </a:xfrm>
            <a:custGeom>
              <a:avLst/>
              <a:gdLst/>
              <a:ahLst/>
              <a:cxnLst/>
              <a:rect r="r" b="b" t="t" l="l"/>
              <a:pathLst>
                <a:path h="3198241" w="7023100">
                  <a:moveTo>
                    <a:pt x="0" y="111967"/>
                  </a:moveTo>
                  <a:cubicBezTo>
                    <a:pt x="0" y="50159"/>
                    <a:pt x="66167" y="0"/>
                    <a:pt x="147701" y="0"/>
                  </a:cubicBezTo>
                  <a:lnTo>
                    <a:pt x="6875399" y="0"/>
                  </a:lnTo>
                  <a:cubicBezTo>
                    <a:pt x="6956933" y="0"/>
                    <a:pt x="7023100" y="50159"/>
                    <a:pt x="7023100" y="111967"/>
                  </a:cubicBezTo>
                  <a:lnTo>
                    <a:pt x="7023100" y="3086274"/>
                  </a:lnTo>
                  <a:cubicBezTo>
                    <a:pt x="7023100" y="3148082"/>
                    <a:pt x="6956933" y="3198241"/>
                    <a:pt x="6875399" y="3198241"/>
                  </a:cubicBezTo>
                  <a:lnTo>
                    <a:pt x="147701" y="3198241"/>
                  </a:lnTo>
                  <a:cubicBezTo>
                    <a:pt x="66167" y="3198241"/>
                    <a:pt x="0" y="3148082"/>
                    <a:pt x="0" y="3086274"/>
                  </a:cubicBezTo>
                  <a:close/>
                </a:path>
              </a:pathLst>
            </a:custGeom>
            <a:solidFill>
              <a:srgbClr val="F5F7FA"/>
            </a:solidFill>
            <a:ln w="9525" cap="sq">
              <a:solidFill>
                <a:srgbClr val="E6EAF1"/>
              </a:solidFill>
              <a:prstDash val="solid"/>
              <a:miter/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960120" y="3573780"/>
            <a:ext cx="1234440" cy="1501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8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960120" y="4640890"/>
            <a:ext cx="866246" cy="77962"/>
            <a:chOff x="0" y="0"/>
            <a:chExt cx="914400" cy="8229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960120" y="5212080"/>
            <a:ext cx="4978908" cy="548640"/>
            <a:chOff x="0" y="0"/>
            <a:chExt cx="6638544" cy="731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703" r="0" b="-126704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540574" y="3865197"/>
            <a:ext cx="4978908" cy="584359"/>
            <a:chOff x="0" y="0"/>
            <a:chExt cx="6638544" cy="779145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638544" cy="779145"/>
            </a:xfrm>
            <a:custGeom>
              <a:avLst/>
              <a:gdLst/>
              <a:ahLst/>
              <a:cxnLst/>
              <a:rect r="r" b="b" t="t" l="l"/>
              <a:pathLst>
                <a:path h="779145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6018" r="0" b="-116018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6638544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Pick a mode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932688" y="4794218"/>
            <a:ext cx="4910328" cy="927259"/>
            <a:chOff x="0" y="0"/>
            <a:chExt cx="6547104" cy="123634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6547104" cy="1236345"/>
            </a:xfrm>
            <a:custGeom>
              <a:avLst/>
              <a:gdLst/>
              <a:ahLst/>
              <a:cxnLst/>
              <a:rect r="r" b="b" t="t" l="l"/>
              <a:pathLst>
                <a:path h="1236345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236345"/>
                  </a:lnTo>
                  <a:lnTo>
                    <a:pt x="0" y="12363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3183" r="0" b="-53183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47625"/>
              <a:ext cx="6547104" cy="1283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0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With samples, or just a topic and type.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6487668" y="5212080"/>
            <a:ext cx="4978908" cy="548640"/>
            <a:chOff x="0" y="0"/>
            <a:chExt cx="6638544" cy="73152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703" r="0" b="-126704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2015216" y="5212080"/>
            <a:ext cx="4978908" cy="548640"/>
            <a:chOff x="0" y="0"/>
            <a:chExt cx="6638544" cy="7315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703" r="0" b="-126704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6137720" y="3250216"/>
            <a:ext cx="5267325" cy="2398681"/>
            <a:chOff x="0" y="0"/>
            <a:chExt cx="7023100" cy="3198241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023100" cy="3198241"/>
            </a:xfrm>
            <a:custGeom>
              <a:avLst/>
              <a:gdLst/>
              <a:ahLst/>
              <a:cxnLst/>
              <a:rect r="r" b="b" t="t" l="l"/>
              <a:pathLst>
                <a:path h="3198241" w="7023100">
                  <a:moveTo>
                    <a:pt x="0" y="111967"/>
                  </a:moveTo>
                  <a:cubicBezTo>
                    <a:pt x="0" y="50159"/>
                    <a:pt x="66167" y="0"/>
                    <a:pt x="147701" y="0"/>
                  </a:cubicBezTo>
                  <a:lnTo>
                    <a:pt x="6875399" y="0"/>
                  </a:lnTo>
                  <a:cubicBezTo>
                    <a:pt x="6956933" y="0"/>
                    <a:pt x="7023100" y="50159"/>
                    <a:pt x="7023100" y="111967"/>
                  </a:cubicBezTo>
                  <a:lnTo>
                    <a:pt x="7023100" y="3086274"/>
                  </a:lnTo>
                  <a:cubicBezTo>
                    <a:pt x="7023100" y="3148082"/>
                    <a:pt x="6956933" y="3198241"/>
                    <a:pt x="6875399" y="3198241"/>
                  </a:cubicBezTo>
                  <a:lnTo>
                    <a:pt x="147701" y="3198241"/>
                  </a:lnTo>
                  <a:cubicBezTo>
                    <a:pt x="66167" y="3198241"/>
                    <a:pt x="0" y="3148082"/>
                    <a:pt x="0" y="3086274"/>
                  </a:cubicBezTo>
                  <a:close/>
                </a:path>
              </a:pathLst>
            </a:custGeom>
            <a:solidFill>
              <a:srgbClr val="F5F7FA"/>
            </a:solidFill>
            <a:ln w="9525" cap="sq">
              <a:solidFill>
                <a:srgbClr val="E6EAF1"/>
              </a:solidFill>
              <a:prstDash val="solid"/>
              <a:miter/>
            </a:ln>
          </p:spPr>
        </p:sp>
      </p:grpSp>
      <p:sp>
        <p:nvSpPr>
          <p:cNvPr name="TextBox 55" id="55"/>
          <p:cNvSpPr txBox="true"/>
          <p:nvPr/>
        </p:nvSpPr>
        <p:spPr>
          <a:xfrm rot="0">
            <a:off x="6426137" y="3536918"/>
            <a:ext cx="1234440" cy="1085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8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6426137" y="4604028"/>
            <a:ext cx="866246" cy="77962"/>
            <a:chOff x="0" y="0"/>
            <a:chExt cx="914400" cy="8229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6426137" y="5175218"/>
            <a:ext cx="4978908" cy="548640"/>
            <a:chOff x="0" y="0"/>
            <a:chExt cx="6638544" cy="7315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703" r="0" b="-126704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7043357" y="3826383"/>
            <a:ext cx="4978908" cy="584359"/>
            <a:chOff x="0" y="0"/>
            <a:chExt cx="6638544" cy="779145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638544" cy="779145"/>
            </a:xfrm>
            <a:custGeom>
              <a:avLst/>
              <a:gdLst/>
              <a:ahLst/>
              <a:cxnLst/>
              <a:rect r="r" b="b" t="t" l="l"/>
              <a:pathLst>
                <a:path h="779145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6018" r="0" b="-116018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638544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Configure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6398705" y="4757356"/>
            <a:ext cx="4910328" cy="927259"/>
            <a:chOff x="0" y="0"/>
            <a:chExt cx="6547104" cy="1236345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6547104" cy="1236345"/>
            </a:xfrm>
            <a:custGeom>
              <a:avLst/>
              <a:gdLst/>
              <a:ahLst/>
              <a:cxnLst/>
              <a:rect r="r" b="b" t="t" l="l"/>
              <a:pathLst>
                <a:path h="1236345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236345"/>
                  </a:lnTo>
                  <a:lnTo>
                    <a:pt x="0" y="12363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3183" r="0" b="-53183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6547104" cy="1283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0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 </a:t>
              </a: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type, quantity, and difficulty.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1624120" y="3250216"/>
            <a:ext cx="5267325" cy="2398681"/>
            <a:chOff x="0" y="0"/>
            <a:chExt cx="7023100" cy="3198241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7023100" cy="3198241"/>
            </a:xfrm>
            <a:custGeom>
              <a:avLst/>
              <a:gdLst/>
              <a:ahLst/>
              <a:cxnLst/>
              <a:rect r="r" b="b" t="t" l="l"/>
              <a:pathLst>
                <a:path h="3198241" w="7023100">
                  <a:moveTo>
                    <a:pt x="0" y="111967"/>
                  </a:moveTo>
                  <a:cubicBezTo>
                    <a:pt x="0" y="50159"/>
                    <a:pt x="66167" y="0"/>
                    <a:pt x="147701" y="0"/>
                  </a:cubicBezTo>
                  <a:lnTo>
                    <a:pt x="6875399" y="0"/>
                  </a:lnTo>
                  <a:cubicBezTo>
                    <a:pt x="6956933" y="0"/>
                    <a:pt x="7023100" y="50159"/>
                    <a:pt x="7023100" y="111967"/>
                  </a:cubicBezTo>
                  <a:lnTo>
                    <a:pt x="7023100" y="3086274"/>
                  </a:lnTo>
                  <a:cubicBezTo>
                    <a:pt x="7023100" y="3148082"/>
                    <a:pt x="6956933" y="3198241"/>
                    <a:pt x="6875399" y="3198241"/>
                  </a:cubicBezTo>
                  <a:lnTo>
                    <a:pt x="147701" y="3198241"/>
                  </a:lnTo>
                  <a:cubicBezTo>
                    <a:pt x="66167" y="3198241"/>
                    <a:pt x="0" y="3148082"/>
                    <a:pt x="0" y="3086274"/>
                  </a:cubicBezTo>
                  <a:close/>
                </a:path>
              </a:pathLst>
            </a:custGeom>
            <a:solidFill>
              <a:srgbClr val="F5F7FA"/>
            </a:solidFill>
            <a:ln w="9525" cap="sq">
              <a:solidFill>
                <a:srgbClr val="E6EAF1"/>
              </a:solidFill>
              <a:prstDash val="solid"/>
              <a:miter/>
            </a:ln>
          </p:spPr>
        </p:sp>
      </p:grpSp>
      <p:sp>
        <p:nvSpPr>
          <p:cNvPr name="TextBox 68" id="68"/>
          <p:cNvSpPr txBox="true"/>
          <p:nvPr/>
        </p:nvSpPr>
        <p:spPr>
          <a:xfrm rot="0">
            <a:off x="11912537" y="3536918"/>
            <a:ext cx="1234440" cy="1085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8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</a:p>
        </p:txBody>
      </p:sp>
      <p:grpSp>
        <p:nvGrpSpPr>
          <p:cNvPr name="Group 69" id="69"/>
          <p:cNvGrpSpPr/>
          <p:nvPr/>
        </p:nvGrpSpPr>
        <p:grpSpPr>
          <a:xfrm rot="0">
            <a:off x="11912537" y="4604028"/>
            <a:ext cx="866246" cy="77962"/>
            <a:chOff x="0" y="0"/>
            <a:chExt cx="914400" cy="82296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1912537" y="5175218"/>
            <a:ext cx="4978908" cy="548640"/>
            <a:chOff x="0" y="0"/>
            <a:chExt cx="6638544" cy="73152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703" r="0" b="-126704"/>
              </a:stretch>
            </a:blipFill>
          </p:spPr>
        </p:sp>
      </p:grpSp>
      <p:grpSp>
        <p:nvGrpSpPr>
          <p:cNvPr name="Group 73" id="73"/>
          <p:cNvGrpSpPr/>
          <p:nvPr/>
        </p:nvGrpSpPr>
        <p:grpSpPr>
          <a:xfrm rot="0">
            <a:off x="11912537" y="4711589"/>
            <a:ext cx="4910328" cy="927259"/>
            <a:chOff x="0" y="0"/>
            <a:chExt cx="6547104" cy="1236345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547104" cy="1236345"/>
            </a:xfrm>
            <a:custGeom>
              <a:avLst/>
              <a:gdLst/>
              <a:ahLst/>
              <a:cxnLst/>
              <a:rect r="r" b="b" t="t" l="l"/>
              <a:pathLst>
                <a:path h="1236345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236345"/>
                  </a:lnTo>
                  <a:lnTo>
                    <a:pt x="0" y="12363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53183" r="0" b="-53183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547104" cy="12839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0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Lighter or heavier, to fit the job.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12550140" y="3854402"/>
            <a:ext cx="4978908" cy="584359"/>
            <a:chOff x="0" y="0"/>
            <a:chExt cx="6638544" cy="779145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6638544" cy="779145"/>
            </a:xfrm>
            <a:custGeom>
              <a:avLst/>
              <a:gdLst/>
              <a:ahLst/>
              <a:cxnLst/>
              <a:rect r="r" b="b" t="t" l="l"/>
              <a:pathLst>
                <a:path h="779145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16018" r="0" b="-116018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47625"/>
              <a:ext cx="6638544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Model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67036" y="6113145"/>
            <a:ext cx="16853344" cy="2510504"/>
            <a:chOff x="0" y="0"/>
            <a:chExt cx="22471126" cy="3347339"/>
          </a:xfrm>
        </p:grpSpPr>
        <p:grpSp>
          <p:nvGrpSpPr>
            <p:cNvPr name="Group 80" id="80"/>
            <p:cNvGrpSpPr/>
            <p:nvPr/>
          </p:nvGrpSpPr>
          <p:grpSpPr>
            <a:xfrm rot="0">
              <a:off x="0" y="49149"/>
              <a:ext cx="7023100" cy="3198241"/>
              <a:chOff x="0" y="0"/>
              <a:chExt cx="7023100" cy="319824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7023100" cy="3198241"/>
              </a:xfrm>
              <a:custGeom>
                <a:avLst/>
                <a:gdLst/>
                <a:ahLst/>
                <a:cxnLst/>
                <a:rect r="r" b="b" t="t" l="l"/>
                <a:pathLst>
                  <a:path h="3198241" w="7023100">
                    <a:moveTo>
                      <a:pt x="0" y="111967"/>
                    </a:moveTo>
                    <a:cubicBezTo>
                      <a:pt x="0" y="50159"/>
                      <a:pt x="66167" y="0"/>
                      <a:pt x="147701" y="0"/>
                    </a:cubicBezTo>
                    <a:lnTo>
                      <a:pt x="6875399" y="0"/>
                    </a:lnTo>
                    <a:cubicBezTo>
                      <a:pt x="6956933" y="0"/>
                      <a:pt x="7023100" y="50159"/>
                      <a:pt x="7023100" y="111967"/>
                    </a:cubicBezTo>
                    <a:lnTo>
                      <a:pt x="7023100" y="3086274"/>
                    </a:lnTo>
                    <a:cubicBezTo>
                      <a:pt x="7023100" y="3148082"/>
                      <a:pt x="6956933" y="3198241"/>
                      <a:pt x="6875399" y="3198241"/>
                    </a:cubicBezTo>
                    <a:lnTo>
                      <a:pt x="147701" y="3198241"/>
                    </a:lnTo>
                    <a:cubicBezTo>
                      <a:pt x="66167" y="3198241"/>
                      <a:pt x="0" y="3148082"/>
                      <a:pt x="0" y="3086274"/>
                    </a:cubicBezTo>
                    <a:close/>
                  </a:path>
                </a:pathLst>
              </a:custGeom>
              <a:solidFill>
                <a:srgbClr val="F5F7FA"/>
              </a:solidFill>
              <a:ln w="9525" cap="sq">
                <a:solidFill>
                  <a:srgbClr val="E6EAF1"/>
                </a:solidFill>
                <a:prstDash val="solid"/>
                <a:miter/>
              </a:ln>
            </p:spPr>
          </p:sp>
        </p:grpSp>
        <p:sp>
          <p:nvSpPr>
            <p:cNvPr name="TextBox 82" id="82"/>
            <p:cNvSpPr txBox="true"/>
            <p:nvPr/>
          </p:nvSpPr>
          <p:spPr>
            <a:xfrm rot="0">
              <a:off x="384556" y="475869"/>
              <a:ext cx="1645920" cy="1403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58"/>
                </a:lnSpc>
              </a:pPr>
              <a:r>
                <a:rPr lang="en-US" sz="63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  <p:grpSp>
          <p:nvGrpSpPr>
            <p:cNvPr name="Group 83" id="83"/>
            <p:cNvGrpSpPr/>
            <p:nvPr/>
          </p:nvGrpSpPr>
          <p:grpSpPr>
            <a:xfrm rot="0">
              <a:off x="384556" y="1854232"/>
              <a:ext cx="1154994" cy="103950"/>
              <a:chOff x="0" y="0"/>
              <a:chExt cx="914400" cy="8229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914400" cy="82296"/>
              </a:xfrm>
              <a:custGeom>
                <a:avLst/>
                <a:gdLst/>
                <a:ahLst/>
                <a:cxnLst/>
                <a:rect r="r" b="b" t="t" l="l"/>
                <a:pathLst>
                  <a:path h="82296" w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82296"/>
                    </a:lnTo>
                    <a:lnTo>
                      <a:pt x="0" y="82296"/>
                    </a:lnTo>
                    <a:close/>
                  </a:path>
                </a:pathLst>
              </a:custGeom>
              <a:solidFill>
                <a:srgbClr val="89CE39"/>
              </a:solidFill>
            </p:spPr>
          </p:sp>
        </p:grpSp>
        <p:grpSp>
          <p:nvGrpSpPr>
            <p:cNvPr name="Group 85" id="85"/>
            <p:cNvGrpSpPr/>
            <p:nvPr/>
          </p:nvGrpSpPr>
          <p:grpSpPr>
            <a:xfrm rot="0">
              <a:off x="384556" y="2615819"/>
              <a:ext cx="6638544" cy="731520"/>
              <a:chOff x="0" y="0"/>
              <a:chExt cx="6638544" cy="731520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6638544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703" r="0" b="-126704"/>
                </a:stretch>
              </a:blipFill>
            </p:spPr>
          </p:sp>
        </p:grpSp>
        <p:grpSp>
          <p:nvGrpSpPr>
            <p:cNvPr name="Group 87" id="87"/>
            <p:cNvGrpSpPr/>
            <p:nvPr/>
          </p:nvGrpSpPr>
          <p:grpSpPr>
            <a:xfrm rot="0">
              <a:off x="7754620" y="2615819"/>
              <a:ext cx="6638544" cy="731520"/>
              <a:chOff x="0" y="0"/>
              <a:chExt cx="6638544" cy="731520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0" y="0"/>
                <a:ext cx="6638544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703" r="0" b="-126704"/>
                </a:stretch>
              </a:blipFill>
            </p:spPr>
          </p:sp>
        </p:grpSp>
        <p:grpSp>
          <p:nvGrpSpPr>
            <p:cNvPr name="Group 89" id="89"/>
            <p:cNvGrpSpPr/>
            <p:nvPr/>
          </p:nvGrpSpPr>
          <p:grpSpPr>
            <a:xfrm rot="0">
              <a:off x="15124684" y="2615819"/>
              <a:ext cx="6638544" cy="731520"/>
              <a:chOff x="0" y="0"/>
              <a:chExt cx="6638544" cy="731520"/>
            </a:xfrm>
          </p:grpSpPr>
          <p:sp>
            <p:nvSpPr>
              <p:cNvPr name="Freeform 90" id="90"/>
              <p:cNvSpPr/>
              <p:nvPr/>
            </p:nvSpPr>
            <p:spPr>
              <a:xfrm flipH="false" flipV="false" rot="0">
                <a:off x="0" y="0"/>
                <a:ext cx="6638544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703" r="0" b="-126704"/>
                </a:stretch>
              </a:blipFill>
            </p:spPr>
          </p:sp>
        </p:grpSp>
        <p:grpSp>
          <p:nvGrpSpPr>
            <p:cNvPr name="Group 91" id="91"/>
            <p:cNvGrpSpPr/>
            <p:nvPr/>
          </p:nvGrpSpPr>
          <p:grpSpPr>
            <a:xfrm rot="0">
              <a:off x="7288022" y="0"/>
              <a:ext cx="7023100" cy="3198241"/>
              <a:chOff x="0" y="0"/>
              <a:chExt cx="7023100" cy="3198241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0" y="0"/>
                <a:ext cx="7023100" cy="3198241"/>
              </a:xfrm>
              <a:custGeom>
                <a:avLst/>
                <a:gdLst/>
                <a:ahLst/>
                <a:cxnLst/>
                <a:rect r="r" b="b" t="t" l="l"/>
                <a:pathLst>
                  <a:path h="3198241" w="7023100">
                    <a:moveTo>
                      <a:pt x="0" y="111967"/>
                    </a:moveTo>
                    <a:cubicBezTo>
                      <a:pt x="0" y="50159"/>
                      <a:pt x="66167" y="0"/>
                      <a:pt x="147701" y="0"/>
                    </a:cubicBezTo>
                    <a:lnTo>
                      <a:pt x="6875399" y="0"/>
                    </a:lnTo>
                    <a:cubicBezTo>
                      <a:pt x="6956933" y="0"/>
                      <a:pt x="7023100" y="50159"/>
                      <a:pt x="7023100" y="111967"/>
                    </a:cubicBezTo>
                    <a:lnTo>
                      <a:pt x="7023100" y="3086274"/>
                    </a:lnTo>
                    <a:cubicBezTo>
                      <a:pt x="7023100" y="3148082"/>
                      <a:pt x="6956933" y="3198241"/>
                      <a:pt x="6875399" y="3198241"/>
                    </a:cubicBezTo>
                    <a:lnTo>
                      <a:pt x="147701" y="3198241"/>
                    </a:lnTo>
                    <a:cubicBezTo>
                      <a:pt x="66167" y="3198241"/>
                      <a:pt x="0" y="3148082"/>
                      <a:pt x="0" y="3086274"/>
                    </a:cubicBezTo>
                    <a:close/>
                  </a:path>
                </a:pathLst>
              </a:custGeom>
              <a:solidFill>
                <a:srgbClr val="F5F7FA"/>
              </a:solidFill>
              <a:ln w="9525" cap="sq">
                <a:solidFill>
                  <a:srgbClr val="E6EAF1"/>
                </a:solidFill>
                <a:prstDash val="solid"/>
                <a:miter/>
              </a:ln>
            </p:spPr>
          </p:sp>
        </p:grpSp>
        <p:sp>
          <p:nvSpPr>
            <p:cNvPr name="TextBox 93" id="93"/>
            <p:cNvSpPr txBox="true"/>
            <p:nvPr/>
          </p:nvSpPr>
          <p:spPr>
            <a:xfrm rot="0">
              <a:off x="7672578" y="426720"/>
              <a:ext cx="1645920" cy="1403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58"/>
                </a:lnSpc>
              </a:pPr>
              <a:r>
                <a:rPr lang="en-US" sz="63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  <p:grpSp>
          <p:nvGrpSpPr>
            <p:cNvPr name="Group 94" id="94"/>
            <p:cNvGrpSpPr/>
            <p:nvPr/>
          </p:nvGrpSpPr>
          <p:grpSpPr>
            <a:xfrm rot="0">
              <a:off x="7672578" y="1805083"/>
              <a:ext cx="1154994" cy="103950"/>
              <a:chOff x="0" y="0"/>
              <a:chExt cx="914400" cy="82296"/>
            </a:xfrm>
          </p:grpSpPr>
          <p:sp>
            <p:nvSpPr>
              <p:cNvPr name="Freeform 95" id="95"/>
              <p:cNvSpPr/>
              <p:nvPr/>
            </p:nvSpPr>
            <p:spPr>
              <a:xfrm flipH="false" flipV="false" rot="0">
                <a:off x="0" y="0"/>
                <a:ext cx="914400" cy="82296"/>
              </a:xfrm>
              <a:custGeom>
                <a:avLst/>
                <a:gdLst/>
                <a:ahLst/>
                <a:cxnLst/>
                <a:rect r="r" b="b" t="t" l="l"/>
                <a:pathLst>
                  <a:path h="82296" w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82296"/>
                    </a:lnTo>
                    <a:lnTo>
                      <a:pt x="0" y="82296"/>
                    </a:lnTo>
                    <a:close/>
                  </a:path>
                </a:pathLst>
              </a:custGeom>
              <a:solidFill>
                <a:srgbClr val="89CE39"/>
              </a:solidFill>
            </p:spPr>
          </p:sp>
        </p:grpSp>
        <p:grpSp>
          <p:nvGrpSpPr>
            <p:cNvPr name="Group 96" id="96"/>
            <p:cNvGrpSpPr/>
            <p:nvPr/>
          </p:nvGrpSpPr>
          <p:grpSpPr>
            <a:xfrm rot="0">
              <a:off x="7672578" y="2566670"/>
              <a:ext cx="6638544" cy="731520"/>
              <a:chOff x="0" y="0"/>
              <a:chExt cx="6638544" cy="731520"/>
            </a:xfrm>
          </p:grpSpPr>
          <p:sp>
            <p:nvSpPr>
              <p:cNvPr name="Freeform 97" id="97"/>
              <p:cNvSpPr/>
              <p:nvPr/>
            </p:nvSpPr>
            <p:spPr>
              <a:xfrm flipH="false" flipV="false" rot="0">
                <a:off x="0" y="0"/>
                <a:ext cx="6638544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703" r="0" b="-126704"/>
                </a:stretch>
              </a:blipFill>
            </p:spPr>
          </p:sp>
        </p:grpSp>
        <p:grpSp>
          <p:nvGrpSpPr>
            <p:cNvPr name="Group 98" id="98"/>
            <p:cNvGrpSpPr/>
            <p:nvPr/>
          </p:nvGrpSpPr>
          <p:grpSpPr>
            <a:xfrm rot="0">
              <a:off x="14603222" y="0"/>
              <a:ext cx="7023100" cy="3198241"/>
              <a:chOff x="0" y="0"/>
              <a:chExt cx="7023100" cy="3198241"/>
            </a:xfrm>
          </p:grpSpPr>
          <p:sp>
            <p:nvSpPr>
              <p:cNvPr name="Freeform 99" id="99"/>
              <p:cNvSpPr/>
              <p:nvPr/>
            </p:nvSpPr>
            <p:spPr>
              <a:xfrm flipH="false" flipV="false" rot="0">
                <a:off x="0" y="0"/>
                <a:ext cx="7023100" cy="3198241"/>
              </a:xfrm>
              <a:custGeom>
                <a:avLst/>
                <a:gdLst/>
                <a:ahLst/>
                <a:cxnLst/>
                <a:rect r="r" b="b" t="t" l="l"/>
                <a:pathLst>
                  <a:path h="3198241" w="7023100">
                    <a:moveTo>
                      <a:pt x="0" y="111967"/>
                    </a:moveTo>
                    <a:cubicBezTo>
                      <a:pt x="0" y="50159"/>
                      <a:pt x="66167" y="0"/>
                      <a:pt x="147701" y="0"/>
                    </a:cubicBezTo>
                    <a:lnTo>
                      <a:pt x="6875399" y="0"/>
                    </a:lnTo>
                    <a:cubicBezTo>
                      <a:pt x="6956933" y="0"/>
                      <a:pt x="7023100" y="50159"/>
                      <a:pt x="7023100" y="111967"/>
                    </a:cubicBezTo>
                    <a:lnTo>
                      <a:pt x="7023100" y="3086274"/>
                    </a:lnTo>
                    <a:cubicBezTo>
                      <a:pt x="7023100" y="3148082"/>
                      <a:pt x="6956933" y="3198241"/>
                      <a:pt x="6875399" y="3198241"/>
                    </a:cubicBezTo>
                    <a:lnTo>
                      <a:pt x="147701" y="3198241"/>
                    </a:lnTo>
                    <a:cubicBezTo>
                      <a:pt x="66167" y="3198241"/>
                      <a:pt x="0" y="3148082"/>
                      <a:pt x="0" y="3086274"/>
                    </a:cubicBezTo>
                    <a:close/>
                  </a:path>
                </a:pathLst>
              </a:custGeom>
              <a:solidFill>
                <a:srgbClr val="F5F7FA"/>
              </a:solidFill>
              <a:ln w="9525" cap="sq">
                <a:solidFill>
                  <a:srgbClr val="E6EAF1"/>
                </a:solidFill>
                <a:prstDash val="solid"/>
                <a:miter/>
              </a:ln>
            </p:spPr>
          </p:sp>
        </p:grpSp>
        <p:sp>
          <p:nvSpPr>
            <p:cNvPr name="TextBox 100" id="100"/>
            <p:cNvSpPr txBox="true"/>
            <p:nvPr/>
          </p:nvSpPr>
          <p:spPr>
            <a:xfrm rot="0">
              <a:off x="14987778" y="426720"/>
              <a:ext cx="1645920" cy="1403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58"/>
                </a:lnSpc>
              </a:pPr>
              <a:r>
                <a:rPr lang="en-US" sz="63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  <p:grpSp>
          <p:nvGrpSpPr>
            <p:cNvPr name="Group 101" id="101"/>
            <p:cNvGrpSpPr/>
            <p:nvPr/>
          </p:nvGrpSpPr>
          <p:grpSpPr>
            <a:xfrm rot="0">
              <a:off x="14987778" y="1805083"/>
              <a:ext cx="1154994" cy="103950"/>
              <a:chOff x="0" y="0"/>
              <a:chExt cx="914400" cy="82296"/>
            </a:xfrm>
          </p:grpSpPr>
          <p:sp>
            <p:nvSpPr>
              <p:cNvPr name="Freeform 102" id="102"/>
              <p:cNvSpPr/>
              <p:nvPr/>
            </p:nvSpPr>
            <p:spPr>
              <a:xfrm flipH="false" flipV="false" rot="0">
                <a:off x="0" y="0"/>
                <a:ext cx="914400" cy="82296"/>
              </a:xfrm>
              <a:custGeom>
                <a:avLst/>
                <a:gdLst/>
                <a:ahLst/>
                <a:cxnLst/>
                <a:rect r="r" b="b" t="t" l="l"/>
                <a:pathLst>
                  <a:path h="82296" w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82296"/>
                    </a:lnTo>
                    <a:lnTo>
                      <a:pt x="0" y="82296"/>
                    </a:lnTo>
                    <a:close/>
                  </a:path>
                </a:pathLst>
              </a:custGeom>
              <a:solidFill>
                <a:srgbClr val="89CE39"/>
              </a:solidFill>
            </p:spPr>
          </p:sp>
        </p:grpSp>
        <p:grpSp>
          <p:nvGrpSpPr>
            <p:cNvPr name="Group 103" id="103"/>
            <p:cNvGrpSpPr/>
            <p:nvPr/>
          </p:nvGrpSpPr>
          <p:grpSpPr>
            <a:xfrm rot="0">
              <a:off x="14987778" y="2566670"/>
              <a:ext cx="6638544" cy="731520"/>
              <a:chOff x="0" y="0"/>
              <a:chExt cx="6638544" cy="731520"/>
            </a:xfrm>
          </p:grpSpPr>
          <p:sp>
            <p:nvSpPr>
              <p:cNvPr name="Freeform 104" id="104"/>
              <p:cNvSpPr/>
              <p:nvPr/>
            </p:nvSpPr>
            <p:spPr>
              <a:xfrm flipH="false" flipV="false" rot="0">
                <a:off x="0" y="0"/>
                <a:ext cx="6638544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26703" r="0" b="-126704"/>
                </a:stretch>
              </a:blipFill>
            </p:spPr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1207516" y="819975"/>
              <a:ext cx="6638544" cy="779145"/>
              <a:chOff x="0" y="0"/>
              <a:chExt cx="6638544" cy="779145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0" y="0"/>
                <a:ext cx="6638544" cy="779145"/>
              </a:xfrm>
              <a:custGeom>
                <a:avLst/>
                <a:gdLst/>
                <a:ahLst/>
                <a:cxnLst/>
                <a:rect r="r" b="b" t="t" l="l"/>
                <a:pathLst>
                  <a:path h="779145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79145"/>
                    </a:lnTo>
                    <a:lnTo>
                      <a:pt x="0" y="77914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16018" r="0" b="-116018"/>
                </a:stretch>
              </a:blipFill>
            </p:spPr>
          </p:sp>
          <p:sp>
            <p:nvSpPr>
              <p:cNvPr name="TextBox 107" id="107"/>
              <p:cNvSpPr txBox="true"/>
              <p:nvPr/>
            </p:nvSpPr>
            <p:spPr>
              <a:xfrm>
                <a:off x="0" y="-47625"/>
                <a:ext cx="6638544" cy="8267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true">
                    <a:solidFill>
                      <a:srgbClr val="003865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Add prompts</a:t>
                </a:r>
              </a:p>
            </p:txBody>
          </p:sp>
        </p:grpSp>
        <p:grpSp>
          <p:nvGrpSpPr>
            <p:cNvPr name="Group 108" id="108"/>
            <p:cNvGrpSpPr/>
            <p:nvPr/>
          </p:nvGrpSpPr>
          <p:grpSpPr>
            <a:xfrm rot="0">
              <a:off x="504190" y="1997646"/>
              <a:ext cx="6547104" cy="1236345"/>
              <a:chOff x="0" y="0"/>
              <a:chExt cx="6547104" cy="1236345"/>
            </a:xfrm>
          </p:grpSpPr>
          <p:sp>
            <p:nvSpPr>
              <p:cNvPr name="Freeform 109" id="109"/>
              <p:cNvSpPr/>
              <p:nvPr/>
            </p:nvSpPr>
            <p:spPr>
              <a:xfrm flipH="false" flipV="false" rot="0">
                <a:off x="0" y="0"/>
                <a:ext cx="6547104" cy="1236345"/>
              </a:xfrm>
              <a:custGeom>
                <a:avLst/>
                <a:gdLst/>
                <a:ahLst/>
                <a:cxnLst/>
                <a:rect r="r" b="b" t="t" l="l"/>
                <a:pathLst>
                  <a:path h="1236345" w="6547104">
                    <a:moveTo>
                      <a:pt x="0" y="0"/>
                    </a:moveTo>
                    <a:lnTo>
                      <a:pt x="6547104" y="0"/>
                    </a:lnTo>
                    <a:lnTo>
                      <a:pt x="6547104" y="1236345"/>
                    </a:lnTo>
                    <a:lnTo>
                      <a:pt x="0" y="123634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53183" r="0" b="-53183"/>
                </a:stretch>
              </a:blipFill>
            </p:spPr>
          </p:sp>
          <p:sp>
            <p:nvSpPr>
              <p:cNvPr name="TextBox 110" id="110"/>
              <p:cNvSpPr txBox="true"/>
              <p:nvPr/>
            </p:nvSpPr>
            <p:spPr>
              <a:xfrm>
                <a:off x="0" y="-47625"/>
                <a:ext cx="6547104" cy="1283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50"/>
                  </a:lnSpc>
                </a:pPr>
                <a:r>
                  <a:rPr lang="en-US" sz="2025">
                    <a:solidFill>
                      <a:srgbClr val="333333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Positive and negative guidance to steer output.</a:t>
                </a:r>
              </a:p>
            </p:txBody>
          </p:sp>
        </p:grpSp>
        <p:grpSp>
          <p:nvGrpSpPr>
            <p:cNvPr name="Group 111" id="111"/>
            <p:cNvGrpSpPr/>
            <p:nvPr/>
          </p:nvGrpSpPr>
          <p:grpSpPr>
            <a:xfrm rot="0">
              <a:off x="8486140" y="819975"/>
              <a:ext cx="6638544" cy="779145"/>
              <a:chOff x="0" y="0"/>
              <a:chExt cx="6638544" cy="779145"/>
            </a:xfrm>
          </p:grpSpPr>
          <p:sp>
            <p:nvSpPr>
              <p:cNvPr name="Freeform 112" id="112"/>
              <p:cNvSpPr/>
              <p:nvPr/>
            </p:nvSpPr>
            <p:spPr>
              <a:xfrm flipH="false" flipV="false" rot="0">
                <a:off x="0" y="0"/>
                <a:ext cx="6638544" cy="779145"/>
              </a:xfrm>
              <a:custGeom>
                <a:avLst/>
                <a:gdLst/>
                <a:ahLst/>
                <a:cxnLst/>
                <a:rect r="r" b="b" t="t" l="l"/>
                <a:pathLst>
                  <a:path h="779145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79145"/>
                    </a:lnTo>
                    <a:lnTo>
                      <a:pt x="0" y="77914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16018" r="0" b="-116018"/>
                </a:stretch>
              </a:blipFill>
            </p:spPr>
          </p:sp>
          <p:sp>
            <p:nvSpPr>
              <p:cNvPr name="TextBox 113" id="113"/>
              <p:cNvSpPr txBox="true"/>
              <p:nvPr/>
            </p:nvSpPr>
            <p:spPr>
              <a:xfrm>
                <a:off x="0" y="-47625"/>
                <a:ext cx="6638544" cy="8267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true">
                    <a:solidFill>
                      <a:srgbClr val="003865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Generate</a:t>
                </a:r>
              </a:p>
            </p:txBody>
          </p:sp>
        </p:grpSp>
        <p:grpSp>
          <p:nvGrpSpPr>
            <p:cNvPr name="Group 114" id="114"/>
            <p:cNvGrpSpPr/>
            <p:nvPr/>
          </p:nvGrpSpPr>
          <p:grpSpPr>
            <a:xfrm rot="0">
              <a:off x="7800340" y="2011045"/>
              <a:ext cx="6547104" cy="1236345"/>
              <a:chOff x="0" y="0"/>
              <a:chExt cx="6547104" cy="1236345"/>
            </a:xfrm>
          </p:grpSpPr>
          <p:sp>
            <p:nvSpPr>
              <p:cNvPr name="Freeform 115" id="115"/>
              <p:cNvSpPr/>
              <p:nvPr/>
            </p:nvSpPr>
            <p:spPr>
              <a:xfrm flipH="false" flipV="false" rot="0">
                <a:off x="0" y="0"/>
                <a:ext cx="6547104" cy="1236345"/>
              </a:xfrm>
              <a:custGeom>
                <a:avLst/>
                <a:gdLst/>
                <a:ahLst/>
                <a:cxnLst/>
                <a:rect r="r" b="b" t="t" l="l"/>
                <a:pathLst>
                  <a:path h="1236345" w="6547104">
                    <a:moveTo>
                      <a:pt x="0" y="0"/>
                    </a:moveTo>
                    <a:lnTo>
                      <a:pt x="6547104" y="0"/>
                    </a:lnTo>
                    <a:lnTo>
                      <a:pt x="6547104" y="1236345"/>
                    </a:lnTo>
                    <a:lnTo>
                      <a:pt x="0" y="123634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53183" r="0" b="-53183"/>
                </a:stretch>
              </a:blipFill>
            </p:spPr>
          </p:sp>
          <p:sp>
            <p:nvSpPr>
              <p:cNvPr name="TextBox 116" id="116"/>
              <p:cNvSpPr txBox="true"/>
              <p:nvPr/>
            </p:nvSpPr>
            <p:spPr>
              <a:xfrm>
                <a:off x="0" y="-47625"/>
                <a:ext cx="6547104" cy="1283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50"/>
                  </a:lnSpc>
                </a:pPr>
                <a:r>
                  <a:rPr lang="en-US" sz="2025">
                    <a:solidFill>
                      <a:srgbClr val="333333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Runs in the background, in parallel batches of 50.</a:t>
                </a:r>
              </a:p>
            </p:txBody>
          </p:sp>
        </p:grpSp>
        <p:grpSp>
          <p:nvGrpSpPr>
            <p:cNvPr name="Group 117" id="117"/>
            <p:cNvGrpSpPr/>
            <p:nvPr/>
          </p:nvGrpSpPr>
          <p:grpSpPr>
            <a:xfrm rot="0">
              <a:off x="15832582" y="869124"/>
              <a:ext cx="6638544" cy="779145"/>
              <a:chOff x="0" y="0"/>
              <a:chExt cx="6638544" cy="779145"/>
            </a:xfrm>
          </p:grpSpPr>
          <p:sp>
            <p:nvSpPr>
              <p:cNvPr name="Freeform 118" id="118"/>
              <p:cNvSpPr/>
              <p:nvPr/>
            </p:nvSpPr>
            <p:spPr>
              <a:xfrm flipH="false" flipV="false" rot="0">
                <a:off x="0" y="0"/>
                <a:ext cx="6638544" cy="779145"/>
              </a:xfrm>
              <a:custGeom>
                <a:avLst/>
                <a:gdLst/>
                <a:ahLst/>
                <a:cxnLst/>
                <a:rect r="r" b="b" t="t" l="l"/>
                <a:pathLst>
                  <a:path h="779145" w="6638544">
                    <a:moveTo>
                      <a:pt x="0" y="0"/>
                    </a:moveTo>
                    <a:lnTo>
                      <a:pt x="6638544" y="0"/>
                    </a:lnTo>
                    <a:lnTo>
                      <a:pt x="6638544" y="779145"/>
                    </a:lnTo>
                    <a:lnTo>
                      <a:pt x="0" y="77914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116018" r="0" b="-116018"/>
                </a:stretch>
              </a:blipFill>
            </p:spPr>
          </p:sp>
          <p:sp>
            <p:nvSpPr>
              <p:cNvPr name="TextBox 119" id="119"/>
              <p:cNvSpPr txBox="true"/>
              <p:nvPr/>
            </p:nvSpPr>
            <p:spPr>
              <a:xfrm>
                <a:off x="0" y="-47625"/>
                <a:ext cx="6638544" cy="8267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true">
                    <a:solidFill>
                      <a:srgbClr val="003865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Finalize &amp; export</a:t>
                </a:r>
              </a:p>
            </p:txBody>
          </p:sp>
        </p:grpSp>
        <p:grpSp>
          <p:nvGrpSpPr>
            <p:cNvPr name="Group 120" id="120"/>
            <p:cNvGrpSpPr/>
            <p:nvPr/>
          </p:nvGrpSpPr>
          <p:grpSpPr>
            <a:xfrm rot="0">
              <a:off x="15040864" y="2061432"/>
              <a:ext cx="6547104" cy="1236345"/>
              <a:chOff x="0" y="0"/>
              <a:chExt cx="6547104" cy="1236345"/>
            </a:xfrm>
          </p:grpSpPr>
          <p:sp>
            <p:nvSpPr>
              <p:cNvPr name="Freeform 121" id="121"/>
              <p:cNvSpPr/>
              <p:nvPr/>
            </p:nvSpPr>
            <p:spPr>
              <a:xfrm flipH="false" flipV="false" rot="0">
                <a:off x="0" y="0"/>
                <a:ext cx="6547104" cy="1236345"/>
              </a:xfrm>
              <a:custGeom>
                <a:avLst/>
                <a:gdLst/>
                <a:ahLst/>
                <a:cxnLst/>
                <a:rect r="r" b="b" t="t" l="l"/>
                <a:pathLst>
                  <a:path h="1236345" w="6547104">
                    <a:moveTo>
                      <a:pt x="0" y="0"/>
                    </a:moveTo>
                    <a:lnTo>
                      <a:pt x="6547104" y="0"/>
                    </a:lnTo>
                    <a:lnTo>
                      <a:pt x="6547104" y="1236345"/>
                    </a:lnTo>
                    <a:lnTo>
                      <a:pt x="0" y="1236345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l="0" t="-53183" r="0" b="-53183"/>
                </a:stretch>
              </a:blipFill>
            </p:spPr>
          </p:sp>
          <p:sp>
            <p:nvSpPr>
              <p:cNvPr name="TextBox 122" id="122"/>
              <p:cNvSpPr txBox="true"/>
              <p:nvPr/>
            </p:nvSpPr>
            <p:spPr>
              <a:xfrm>
                <a:off x="0" y="-47625"/>
                <a:ext cx="6547104" cy="1283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50"/>
                  </a:lnSpc>
                </a:pPr>
                <a:r>
                  <a:rPr lang="en-US" sz="2025">
                    <a:solidFill>
                      <a:srgbClr val="333333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Plagiarism check, auto-revamp, Mettl-ready file.</a:t>
                </a: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08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ORIGINALITY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doesn't just flag — it fixes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4912" r="0" b="-464913"/>
              </a:stretch>
            </a:blip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60120" y="2947226"/>
            <a:ext cx="16322040" cy="660082"/>
            <a:chOff x="0" y="0"/>
            <a:chExt cx="21762720" cy="88011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762720" cy="880110"/>
            </a:xfrm>
            <a:custGeom>
              <a:avLst/>
              <a:gdLst/>
              <a:ahLst/>
              <a:cxnLst/>
              <a:rect r="r" b="b" t="t" l="l"/>
              <a:pathLst>
                <a:path h="88011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80110"/>
                  </a:lnTo>
                  <a:lnTo>
                    <a:pt x="0" y="8801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31811" r="0" b="-43181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21762720" cy="9372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Plagiarism handling runs inside generation, not as a separate pass afterward.</a:t>
              </a:r>
            </a:p>
          </p:txBody>
        </p:sp>
      </p:grpSp>
      <p:sp>
        <p:nvSpPr>
          <p:cNvPr name="Freeform 36" id="36"/>
          <p:cNvSpPr/>
          <p:nvPr/>
        </p:nvSpPr>
        <p:spPr>
          <a:xfrm flipH="false" flipV="false" rot="0">
            <a:off x="935117" y="4295537"/>
            <a:ext cx="3684746" cy="1901666"/>
          </a:xfrm>
          <a:custGeom>
            <a:avLst/>
            <a:gdLst/>
            <a:ahLst/>
            <a:cxnLst/>
            <a:rect r="r" b="b" t="t" l="l"/>
            <a:pathLst>
              <a:path h="1901666" w="3684746">
                <a:moveTo>
                  <a:pt x="0" y="0"/>
                </a:moveTo>
                <a:lnTo>
                  <a:pt x="3684746" y="0"/>
                </a:lnTo>
                <a:lnTo>
                  <a:pt x="3684746" y="1901666"/>
                </a:lnTo>
                <a:lnTo>
                  <a:pt x="0" y="190166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7" id="37"/>
          <p:cNvGrpSpPr/>
          <p:nvPr/>
        </p:nvGrpSpPr>
        <p:grpSpPr>
          <a:xfrm rot="0">
            <a:off x="1124712" y="4759452"/>
            <a:ext cx="3305556" cy="548640"/>
            <a:chOff x="0" y="0"/>
            <a:chExt cx="4407408" cy="7315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124712" y="4730877"/>
            <a:ext cx="3305556" cy="577215"/>
            <a:chOff x="0" y="0"/>
            <a:chExt cx="4407408" cy="7696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124712" y="5335524"/>
            <a:ext cx="3305556" cy="548640"/>
            <a:chOff x="0" y="0"/>
            <a:chExt cx="4407408" cy="73152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1124712" y="5306949"/>
            <a:ext cx="3305556" cy="577215"/>
            <a:chOff x="0" y="0"/>
            <a:chExt cx="4407408" cy="7696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Draft the MCQ set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4594860" y="4320540"/>
            <a:ext cx="594360" cy="1851660"/>
            <a:chOff x="0" y="0"/>
            <a:chExt cx="792480" cy="24688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993" t="0" r="-349991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4594860" y="4263390"/>
            <a:ext cx="594360" cy="1908810"/>
            <a:chOff x="0" y="0"/>
            <a:chExt cx="792480" cy="254508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92480" cy="2545080"/>
            </a:xfrm>
            <a:custGeom>
              <a:avLst/>
              <a:gdLst/>
              <a:ahLst/>
              <a:cxnLst/>
              <a:rect r="r" b="b" t="t" l="l"/>
              <a:pathLst>
                <a:path h="25450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545080"/>
                  </a:lnTo>
                  <a:lnTo>
                    <a:pt x="0" y="2545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62051" t="0" r="-362051" b="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76200"/>
              <a:ext cx="792480" cy="2621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sp>
        <p:nvSpPr>
          <p:cNvPr name="Freeform 52" id="52"/>
          <p:cNvSpPr/>
          <p:nvPr/>
        </p:nvSpPr>
        <p:spPr>
          <a:xfrm flipH="false" flipV="false" rot="0">
            <a:off x="5164217" y="4295537"/>
            <a:ext cx="3684746" cy="1901666"/>
          </a:xfrm>
          <a:custGeom>
            <a:avLst/>
            <a:gdLst/>
            <a:ahLst/>
            <a:cxnLst/>
            <a:rect r="r" b="b" t="t" l="l"/>
            <a:pathLst>
              <a:path h="1901666" w="3684746">
                <a:moveTo>
                  <a:pt x="0" y="0"/>
                </a:moveTo>
                <a:lnTo>
                  <a:pt x="3684746" y="0"/>
                </a:lnTo>
                <a:lnTo>
                  <a:pt x="3684746" y="1901666"/>
                </a:lnTo>
                <a:lnTo>
                  <a:pt x="0" y="190166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3" id="53"/>
          <p:cNvGrpSpPr/>
          <p:nvPr/>
        </p:nvGrpSpPr>
        <p:grpSpPr>
          <a:xfrm rot="0">
            <a:off x="5353812" y="4759452"/>
            <a:ext cx="3305556" cy="548640"/>
            <a:chOff x="0" y="0"/>
            <a:chExt cx="4407408" cy="7315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5353812" y="4730877"/>
            <a:ext cx="3305556" cy="577215"/>
            <a:chOff x="0" y="0"/>
            <a:chExt cx="4407408" cy="76962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Plagiarism check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5353812" y="5335524"/>
            <a:ext cx="3305556" cy="548640"/>
            <a:chOff x="0" y="0"/>
            <a:chExt cx="4407408" cy="73152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5353812" y="5306949"/>
            <a:ext cx="3305556" cy="577215"/>
            <a:chOff x="0" y="0"/>
            <a:chExt cx="4407408" cy="76962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Scan every item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8823960" y="4320540"/>
            <a:ext cx="594360" cy="1851660"/>
            <a:chOff x="0" y="0"/>
            <a:chExt cx="792480" cy="246888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993" t="0" r="-349991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8823960" y="4263390"/>
            <a:ext cx="594360" cy="1908810"/>
            <a:chOff x="0" y="0"/>
            <a:chExt cx="792480" cy="254508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792480" cy="2545080"/>
            </a:xfrm>
            <a:custGeom>
              <a:avLst/>
              <a:gdLst/>
              <a:ahLst/>
              <a:cxnLst/>
              <a:rect r="r" b="b" t="t" l="l"/>
              <a:pathLst>
                <a:path h="25450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545080"/>
                  </a:lnTo>
                  <a:lnTo>
                    <a:pt x="0" y="2545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62051" t="0" r="-362051" b="0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76200"/>
              <a:ext cx="792480" cy="2621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sp>
        <p:nvSpPr>
          <p:cNvPr name="Freeform 68" id="68"/>
          <p:cNvSpPr/>
          <p:nvPr/>
        </p:nvSpPr>
        <p:spPr>
          <a:xfrm flipH="false" flipV="false" rot="0">
            <a:off x="9393317" y="4295537"/>
            <a:ext cx="3684746" cy="1901666"/>
          </a:xfrm>
          <a:custGeom>
            <a:avLst/>
            <a:gdLst/>
            <a:ahLst/>
            <a:cxnLst/>
            <a:rect r="r" b="b" t="t" l="l"/>
            <a:pathLst>
              <a:path h="1901666" w="3684746">
                <a:moveTo>
                  <a:pt x="0" y="0"/>
                </a:moveTo>
                <a:lnTo>
                  <a:pt x="3684746" y="0"/>
                </a:lnTo>
                <a:lnTo>
                  <a:pt x="3684746" y="1901666"/>
                </a:lnTo>
                <a:lnTo>
                  <a:pt x="0" y="190166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9" id="69"/>
          <p:cNvGrpSpPr/>
          <p:nvPr/>
        </p:nvGrpSpPr>
        <p:grpSpPr>
          <a:xfrm rot="0">
            <a:off x="9582912" y="4759452"/>
            <a:ext cx="3305556" cy="548640"/>
            <a:chOff x="0" y="0"/>
            <a:chExt cx="4407408" cy="73152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9582912" y="4730877"/>
            <a:ext cx="3305556" cy="577215"/>
            <a:chOff x="0" y="0"/>
            <a:chExt cx="4407408" cy="76962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Revamp flagged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9582912" y="5335524"/>
            <a:ext cx="3305556" cy="548640"/>
            <a:chOff x="0" y="0"/>
            <a:chExt cx="4407408" cy="73152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9582912" y="5306949"/>
            <a:ext cx="3305556" cy="577215"/>
            <a:chOff x="0" y="0"/>
            <a:chExt cx="4407408" cy="76962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Rewrite what's caught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3053060" y="4320540"/>
            <a:ext cx="594360" cy="1851660"/>
            <a:chOff x="0" y="0"/>
            <a:chExt cx="792480" cy="246888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993" t="0" r="-349991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3053060" y="4263390"/>
            <a:ext cx="594360" cy="1908810"/>
            <a:chOff x="0" y="0"/>
            <a:chExt cx="792480" cy="2545080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792480" cy="2545080"/>
            </a:xfrm>
            <a:custGeom>
              <a:avLst/>
              <a:gdLst/>
              <a:ahLst/>
              <a:cxnLst/>
              <a:rect r="r" b="b" t="t" l="l"/>
              <a:pathLst>
                <a:path h="25450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545080"/>
                  </a:lnTo>
                  <a:lnTo>
                    <a:pt x="0" y="254508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362051" t="0" r="-362051" b="0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76200"/>
              <a:ext cx="792480" cy="2621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sp>
        <p:nvSpPr>
          <p:cNvPr name="Freeform 84" id="84"/>
          <p:cNvSpPr/>
          <p:nvPr/>
        </p:nvSpPr>
        <p:spPr>
          <a:xfrm flipH="false" flipV="false" rot="0">
            <a:off x="13622417" y="4295537"/>
            <a:ext cx="3684746" cy="1901666"/>
          </a:xfrm>
          <a:custGeom>
            <a:avLst/>
            <a:gdLst/>
            <a:ahLst/>
            <a:cxnLst/>
            <a:rect r="r" b="b" t="t" l="l"/>
            <a:pathLst>
              <a:path h="1901666" w="3684746">
                <a:moveTo>
                  <a:pt x="0" y="0"/>
                </a:moveTo>
                <a:lnTo>
                  <a:pt x="3684746" y="0"/>
                </a:lnTo>
                <a:lnTo>
                  <a:pt x="3684746" y="1901666"/>
                </a:lnTo>
                <a:lnTo>
                  <a:pt x="0" y="190166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5" id="85"/>
          <p:cNvGrpSpPr/>
          <p:nvPr/>
        </p:nvGrpSpPr>
        <p:grpSpPr>
          <a:xfrm rot="0">
            <a:off x="13812012" y="4759452"/>
            <a:ext cx="3305556" cy="548640"/>
            <a:chOff x="0" y="0"/>
            <a:chExt cx="4407408" cy="73152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13812012" y="4730877"/>
            <a:ext cx="3305556" cy="577215"/>
            <a:chOff x="0" y="0"/>
            <a:chExt cx="4407408" cy="769620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Final output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3812012" y="5335524"/>
            <a:ext cx="3305556" cy="548640"/>
            <a:chOff x="0" y="0"/>
            <a:chExt cx="4407408" cy="73152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15" r="0" b="-67315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3812012" y="5306949"/>
            <a:ext cx="3305556" cy="577215"/>
            <a:chOff x="0" y="0"/>
            <a:chExt cx="4407408" cy="76962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4407408" cy="769620"/>
            </a:xfrm>
            <a:custGeom>
              <a:avLst/>
              <a:gdLst/>
              <a:ahLst/>
              <a:cxnLst/>
              <a:rect r="r" b="b" t="t" l="l"/>
              <a:pathLst>
                <a:path h="7696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69620"/>
                  </a:lnTo>
                  <a:lnTo>
                    <a:pt x="0" y="7696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1585" r="0" b="-61585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4407408" cy="8077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Original &amp; ready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960120" y="6515100"/>
            <a:ext cx="16322040" cy="548640"/>
            <a:chOff x="0" y="0"/>
            <a:chExt cx="21762720" cy="73152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1762720" cy="731520"/>
            </a:xfrm>
            <a:custGeom>
              <a:avLst/>
              <a:gdLst/>
              <a:ahLst/>
              <a:cxnLst/>
              <a:rect r="r" b="b" t="t" l="l"/>
              <a:pathLst>
                <a:path h="7315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9276" r="0" b="-529277"/>
              </a:stretch>
            </a:blip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960120" y="6479381"/>
            <a:ext cx="16322040" cy="584359"/>
            <a:chOff x="0" y="0"/>
            <a:chExt cx="21762720" cy="779145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21762720" cy="779145"/>
            </a:xfrm>
            <a:custGeom>
              <a:avLst/>
              <a:gdLst/>
              <a:ahLst/>
              <a:cxnLst/>
              <a:rect r="r" b="b" t="t" l="l"/>
              <a:pathLst>
                <a:path h="779145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79145"/>
                  </a:lnTo>
                  <a:lnTo>
                    <a:pt x="0" y="7791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94247" r="0" b="-494247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47625"/>
              <a:ext cx="21762720" cy="826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Flagged items loop back and are rewritten until the whole set is clean.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960120" y="7680960"/>
            <a:ext cx="16322040" cy="685800"/>
            <a:chOff x="0" y="0"/>
            <a:chExt cx="21762720" cy="91440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420" r="0" b="-413422"/>
              </a:stretch>
            </a:blip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60120" y="7652385"/>
            <a:ext cx="16322040" cy="714375"/>
            <a:chOff x="0" y="0"/>
            <a:chExt cx="21762720" cy="952500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1762720" cy="952500"/>
            </a:xfrm>
            <a:custGeom>
              <a:avLst/>
              <a:gdLst/>
              <a:ahLst/>
              <a:cxnLst/>
              <a:rect r="r" b="b" t="t" l="l"/>
              <a:pathLst>
                <a:path h="9525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52500"/>
                  </a:lnTo>
                  <a:lnTo>
                    <a:pt x="0" y="9525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95194" r="0" b="-395194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38100"/>
              <a:ext cx="21762720" cy="9906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comes back is final — original, source-grounded, and answer-checked — protecting test validity with no separate review step.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367838" y="3332797"/>
            <a:ext cx="8101965" cy="4032885"/>
            <a:chOff x="0" y="0"/>
            <a:chExt cx="10802620" cy="53771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802620" cy="5377180"/>
            </a:xfrm>
            <a:custGeom>
              <a:avLst/>
              <a:gdLst/>
              <a:ahLst/>
              <a:cxnLst/>
              <a:rect r="r" b="b" t="t" l="l"/>
              <a:pathLst>
                <a:path h="5377180" w="10802620">
                  <a:moveTo>
                    <a:pt x="0" y="215138"/>
                  </a:moveTo>
                  <a:cubicBezTo>
                    <a:pt x="0" y="96266"/>
                    <a:pt x="96266" y="0"/>
                    <a:pt x="215138" y="0"/>
                  </a:cubicBezTo>
                  <a:lnTo>
                    <a:pt x="10587482" y="0"/>
                  </a:lnTo>
                  <a:cubicBezTo>
                    <a:pt x="10706226" y="0"/>
                    <a:pt x="10802620" y="96266"/>
                    <a:pt x="10802620" y="215138"/>
                  </a:cubicBezTo>
                  <a:lnTo>
                    <a:pt x="10802620" y="5162042"/>
                  </a:lnTo>
                  <a:cubicBezTo>
                    <a:pt x="10802620" y="5280787"/>
                    <a:pt x="10706353" y="5377180"/>
                    <a:pt x="10587482" y="5377180"/>
                  </a:cubicBezTo>
                  <a:lnTo>
                    <a:pt x="215138" y="5377180"/>
                  </a:lnTo>
                  <a:cubicBezTo>
                    <a:pt x="96266" y="5377180"/>
                    <a:pt x="0" y="5280914"/>
                    <a:pt x="0" y="5162042"/>
                  </a:cubicBezTo>
                  <a:close/>
                </a:path>
              </a:pathLst>
            </a:custGeom>
            <a:solidFill>
              <a:srgbClr val="F4F6F9"/>
            </a:solidFill>
            <a:ln w="9525" cap="sq">
              <a:solidFill>
                <a:srgbClr val="E6EAF1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818198" y="3332797"/>
            <a:ext cx="8101965" cy="4032885"/>
            <a:chOff x="0" y="0"/>
            <a:chExt cx="10802620" cy="53771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802620" cy="5377180"/>
            </a:xfrm>
            <a:custGeom>
              <a:avLst/>
              <a:gdLst/>
              <a:ahLst/>
              <a:cxnLst/>
              <a:rect r="r" b="b" t="t" l="l"/>
              <a:pathLst>
                <a:path h="5377180" w="10802620">
                  <a:moveTo>
                    <a:pt x="0" y="215138"/>
                  </a:moveTo>
                  <a:cubicBezTo>
                    <a:pt x="0" y="96266"/>
                    <a:pt x="96266" y="0"/>
                    <a:pt x="215138" y="0"/>
                  </a:cubicBezTo>
                  <a:lnTo>
                    <a:pt x="10587482" y="0"/>
                  </a:lnTo>
                  <a:cubicBezTo>
                    <a:pt x="10706226" y="0"/>
                    <a:pt x="10802620" y="96266"/>
                    <a:pt x="10802620" y="215138"/>
                  </a:cubicBezTo>
                  <a:lnTo>
                    <a:pt x="10802620" y="5162042"/>
                  </a:lnTo>
                  <a:cubicBezTo>
                    <a:pt x="10802620" y="5280787"/>
                    <a:pt x="10706353" y="5377180"/>
                    <a:pt x="10587482" y="5377180"/>
                  </a:cubicBezTo>
                  <a:lnTo>
                    <a:pt x="215138" y="5377180"/>
                  </a:lnTo>
                  <a:cubicBezTo>
                    <a:pt x="96266" y="5377180"/>
                    <a:pt x="0" y="5280914"/>
                    <a:pt x="0" y="5162042"/>
                  </a:cubicBezTo>
                  <a:close/>
                </a:path>
              </a:pathLst>
            </a:custGeom>
            <a:solidFill>
              <a:srgbClr val="ECF6F0"/>
            </a:solidFill>
            <a:ln w="9525" cap="sq">
              <a:solidFill>
                <a:srgbClr val="D6EBDD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09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368" r="0" b="-72237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60120" y="1370457"/>
            <a:ext cx="16322040" cy="440055"/>
            <a:chOff x="0" y="0"/>
            <a:chExt cx="21762720" cy="5867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762720" cy="586740"/>
            </a:xfrm>
            <a:custGeom>
              <a:avLst/>
              <a:gdLst/>
              <a:ahLst/>
              <a:cxnLst/>
              <a:rect r="r" b="b" t="t" l="l"/>
              <a:pathLst>
                <a:path h="5867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86740"/>
                  </a:lnTo>
                  <a:lnTo>
                    <a:pt x="0" y="5867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672717" r="0" b="-67271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21762720" cy="6248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ROADMAP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3796" r="0" b="-283797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932688" y="1739074"/>
            <a:ext cx="16459200" cy="1031557"/>
            <a:chOff x="0" y="0"/>
            <a:chExt cx="21945600" cy="137541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945600" cy="1375410"/>
            </a:xfrm>
            <a:custGeom>
              <a:avLst/>
              <a:gdLst/>
              <a:ahLst/>
              <a:cxnLst/>
              <a:rect r="r" b="b" t="t" l="l"/>
              <a:pathLst>
                <a:path h="137541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375410"/>
                  </a:lnTo>
                  <a:lnTo>
                    <a:pt x="0" y="137541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60897" r="0" b="-260896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0"/>
              <a:ext cx="21945600" cy="1470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What's next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40180" y="3922776"/>
            <a:ext cx="301752" cy="301752"/>
            <a:chOff x="0" y="0"/>
            <a:chExt cx="402336" cy="40233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37" id="37"/>
          <p:cNvGrpSpPr/>
          <p:nvPr/>
        </p:nvGrpSpPr>
        <p:grpSpPr>
          <a:xfrm rot="0">
            <a:off x="1892808" y="3840480"/>
            <a:ext cx="3881628" cy="548640"/>
            <a:chOff x="0" y="0"/>
            <a:chExt cx="5175504" cy="7315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175504" cy="731520"/>
            </a:xfrm>
            <a:custGeom>
              <a:avLst/>
              <a:gdLst/>
              <a:ahLst/>
              <a:cxnLst/>
              <a:rect r="r" b="b" t="t" l="l"/>
              <a:pathLst>
                <a:path h="73152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760" r="0" b="-87760"/>
              </a:stretch>
            </a:blip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1892808" y="3797617"/>
            <a:ext cx="3881628" cy="591502"/>
            <a:chOff x="0" y="0"/>
            <a:chExt cx="5175504" cy="78867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175504" cy="788670"/>
            </a:xfrm>
            <a:custGeom>
              <a:avLst/>
              <a:gdLst/>
              <a:ahLst/>
              <a:cxnLst/>
              <a:rect r="r" b="b" t="t" l="l"/>
              <a:pathLst>
                <a:path h="78867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7867" r="0" b="-7786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57150"/>
              <a:ext cx="5175504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225">
                  <a:solidFill>
                    <a:srgbClr val="2E7D32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IN USE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481328" y="4598670"/>
            <a:ext cx="9596923" cy="2214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78994" indent="-192998" lvl="2">
              <a:lnSpc>
                <a:spcPts val="3355"/>
              </a:lnSpc>
              <a:buFont typeface="Arial"/>
              <a:buChar char="⚬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Two modes — samples, or just a topic + type</a:t>
            </a:r>
          </a:p>
          <a:p>
            <a:pPr algn="l" marL="578994" indent="-192998" lvl="2">
              <a:lnSpc>
                <a:spcPts val="3355"/>
              </a:lnSpc>
              <a:buFont typeface="Arial"/>
              <a:buChar char="⚬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Web-grounded, answer-checked originality</a:t>
            </a:r>
          </a:p>
          <a:p>
            <a:pPr algn="l" marL="578994" indent="-192998" lvl="2">
              <a:lnSpc>
                <a:spcPts val="3355"/>
              </a:lnSpc>
              <a:buFont typeface="Arial"/>
              <a:buChar char="⚬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Inline plagiarism self-correction + auto-revamp</a:t>
            </a:r>
          </a:p>
          <a:p>
            <a:pPr algn="l" marL="578994" indent="-192998" lvl="2">
              <a:lnSpc>
                <a:spcPts val="3355"/>
              </a:lnSpc>
              <a:buFont typeface="Arial"/>
              <a:buChar char="⚬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Edit any question — manually or with AI</a:t>
            </a:r>
          </a:p>
          <a:p>
            <a:pPr algn="l" marL="578994" indent="-192998" lvl="2">
              <a:lnSpc>
                <a:spcPts val="3355"/>
              </a:lnSpc>
              <a:buFont typeface="Arial"/>
              <a:buChar char="⚬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Parallel batches of 50 · Mettl-ready export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9993344" y="3840480"/>
            <a:ext cx="301752" cy="301752"/>
            <a:chOff x="0" y="0"/>
            <a:chExt cx="402336" cy="40233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0447496" y="3799332"/>
            <a:ext cx="3881628" cy="548640"/>
            <a:chOff x="0" y="0"/>
            <a:chExt cx="5175504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175504" cy="731520"/>
            </a:xfrm>
            <a:custGeom>
              <a:avLst/>
              <a:gdLst/>
              <a:ahLst/>
              <a:cxnLst/>
              <a:rect r="r" b="b" t="t" l="l"/>
              <a:pathLst>
                <a:path h="73152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760" r="0" b="-8776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0447496" y="3756469"/>
            <a:ext cx="3881628" cy="591502"/>
            <a:chOff x="0" y="0"/>
            <a:chExt cx="5175504" cy="78867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175504" cy="788670"/>
            </a:xfrm>
            <a:custGeom>
              <a:avLst/>
              <a:gdLst/>
              <a:ahLst/>
              <a:cxnLst/>
              <a:rect r="r" b="b" t="t" l="l"/>
              <a:pathLst>
                <a:path h="78867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88670"/>
                  </a:lnTo>
                  <a:lnTo>
                    <a:pt x="0" y="78867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77867" r="0" b="-77867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57150"/>
              <a:ext cx="5175504" cy="8458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225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NEXT</a:t>
              </a: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9804959" y="4598670"/>
            <a:ext cx="6654241" cy="2359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19331" indent="-206444" lvl="2">
              <a:lnSpc>
                <a:spcPts val="3590"/>
              </a:lnSpc>
              <a:buFont typeface="Arial"/>
              <a:buChar char="⚬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Auto-scale by defined skills — generate until the target count is reached</a:t>
            </a:r>
          </a:p>
          <a:p>
            <a:pPr algn="l" marL="619331" indent="-206444" lvl="2">
              <a:lnSpc>
                <a:spcPts val="3590"/>
              </a:lnSpc>
              <a:buFont typeface="Arial"/>
              <a:buChar char="⚬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Direct upload to the Mettl platform</a:t>
            </a:r>
          </a:p>
          <a:p>
            <a:pPr algn="l" marL="619331" indent="-206444" lvl="2">
              <a:lnSpc>
                <a:spcPts val="3590"/>
              </a:lnSpc>
              <a:buFont typeface="Arial"/>
              <a:buChar char="⚬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Judge0 integration — real-time code compilation &amp;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262" r="0" b="-11226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754380" y="-35719"/>
            <a:ext cx="8229600" cy="1023271"/>
            <a:chOff x="0" y="0"/>
            <a:chExt cx="10972800" cy="136436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972800" cy="1364361"/>
            </a:xfrm>
            <a:custGeom>
              <a:avLst/>
              <a:gdLst/>
              <a:ahLst/>
              <a:cxnLst/>
              <a:rect r="r" b="b" t="t" l="l"/>
              <a:pathLst>
                <a:path h="1364361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64361"/>
                  </a:lnTo>
                  <a:lnTo>
                    <a:pt x="0" y="136436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6707" r="0" b="-106707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0972800" cy="14119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721" r="0" b="-111721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326880" y="-21431"/>
            <a:ext cx="8202168" cy="1008983"/>
            <a:chOff x="0" y="0"/>
            <a:chExt cx="10936224" cy="134531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36224" cy="1345311"/>
            </a:xfrm>
            <a:custGeom>
              <a:avLst/>
              <a:gdLst/>
              <a:ahLst/>
              <a:cxnLst/>
              <a:rect r="r" b="b" t="t" l="l"/>
              <a:pathLst>
                <a:path h="1345311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45311"/>
                  </a:lnTo>
                  <a:lnTo>
                    <a:pt x="0" y="134531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08396" r="0" b="-10839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10936224" cy="13738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73" t="0" r="-2674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0" y="9826657"/>
            <a:ext cx="1069848" cy="460343"/>
            <a:chOff x="0" y="0"/>
            <a:chExt cx="1426464" cy="61379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26464" cy="613791"/>
            </a:xfrm>
            <a:custGeom>
              <a:avLst/>
              <a:gdLst/>
              <a:ahLst/>
              <a:cxnLst/>
              <a:rect r="r" b="b" t="t" l="l"/>
              <a:pathLst>
                <a:path h="613791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613791"/>
                  </a:lnTo>
                  <a:lnTo>
                    <a:pt x="0" y="613791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5207" t="0" r="-5207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1426464" cy="64236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4440" y="3223260"/>
            <a:ext cx="96012" cy="1371600"/>
            <a:chOff x="0" y="0"/>
            <a:chExt cx="128016" cy="1828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8016" cy="1828800"/>
            </a:xfrm>
            <a:custGeom>
              <a:avLst/>
              <a:gdLst/>
              <a:ahLst/>
              <a:cxnLst/>
              <a:rect r="r" b="b" t="t" l="l"/>
              <a:pathLst>
                <a:path h="1828800" w="128016">
                  <a:moveTo>
                    <a:pt x="0" y="0"/>
                  </a:moveTo>
                  <a:lnTo>
                    <a:pt x="128016" y="0"/>
                  </a:lnTo>
                  <a:lnTo>
                    <a:pt x="128016" y="182880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18488" y="3154680"/>
            <a:ext cx="10972800" cy="411480"/>
            <a:chOff x="0" y="0"/>
            <a:chExt cx="14630400" cy="5486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240" r="0" b="-469238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618488" y="3118961"/>
            <a:ext cx="10972800" cy="447199"/>
            <a:chOff x="0" y="0"/>
            <a:chExt cx="14630400" cy="59626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4630400" cy="596265"/>
            </a:xfrm>
            <a:custGeom>
              <a:avLst/>
              <a:gdLst/>
              <a:ahLst/>
              <a:cxnLst/>
              <a:rect r="r" b="b" t="t" l="l"/>
              <a:pathLst>
                <a:path h="596265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96265"/>
                  </a:lnTo>
                  <a:lnTo>
                    <a:pt x="0" y="5962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28099" r="0" b="-428099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14630400" cy="6438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 SUMMARY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577340" y="3593592"/>
            <a:ext cx="15636240" cy="1234440"/>
            <a:chOff x="0" y="0"/>
            <a:chExt cx="20848320" cy="16459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8483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6638" r="0" b="-196638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77340" y="3515011"/>
            <a:ext cx="15636240" cy="1313021"/>
            <a:chOff x="0" y="0"/>
            <a:chExt cx="20848320" cy="175069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0848320" cy="1750695"/>
            </a:xfrm>
            <a:custGeom>
              <a:avLst/>
              <a:gdLst/>
              <a:ahLst/>
              <a:cxnLst/>
              <a:rect r="r" b="b" t="t" l="l"/>
              <a:pathLst>
                <a:path h="1750695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750695"/>
                  </a:lnTo>
                  <a:lnTo>
                    <a:pt x="0" y="17506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82039" r="0" b="-182039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04775"/>
              <a:ext cx="20848320" cy="18554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940"/>
                </a:lnSpc>
              </a:pPr>
              <a:r>
                <a:rPr lang="en-US" sz="49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Thank You!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DAHLULnOlRU</dc:identifier>
  <dcterms:modified xsi:type="dcterms:W3CDTF">2011-08-01T06:04:30Z</dcterms:modified>
  <cp:revision>1</cp:revision>
  <dc:title>MCQ_GenAI_Creation_Showcase.pptx</dc:title>
</cp:coreProperties>
</file>