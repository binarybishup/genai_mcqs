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63" r:id="rId13"/>
    <p:sldId id="259" r:id="rId9"/>
    <p:sldId id="262" r:id="rId12"/>
    <p:sldId id="260" r:id="rId10"/>
    <p:sldId id="261" r:id="rId11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Calibri (MS) Italics" charset="1" panose="020F05020202040A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6.xml"/><Relationship Id="rId10" Type="http://schemas.openxmlformats.org/officeDocument/2006/relationships/slide" Target="slides/slide4.xml"/><Relationship Id="rId11" Type="http://schemas.openxmlformats.org/officeDocument/2006/relationships/slide" Target="slides/slide8.xml"/><Relationship Id="rId12" Type="http://schemas.openxmlformats.org/officeDocument/2006/relationships/slide" Target="slides/slide7.xml"/><Relationship Id="rId13" Type="http://schemas.openxmlformats.org/officeDocument/2006/relationships/slide" Target="slides/slide5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Relationship Id="rId17" Type="http://schemas.openxmlformats.org/officeDocument/2006/relationships/theme" Target="theme/theme2.xml"/><Relationship Id="rId18" Type="http://schemas.openxmlformats.org/officeDocument/2006/relationships/notesSlide" Target="notesSlides/notesSlide1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notesSlide" Target="notesSlides/notesSlide2.xml"/><Relationship Id="rId22" Type="http://schemas.openxmlformats.org/officeDocument/2006/relationships/notesSlide" Target="notesSlides/notesSlide3.xml"/><Relationship Id="rId23" Type="http://schemas.openxmlformats.org/officeDocument/2006/relationships/notesSlide" Target="notesSlides/notesSlide4.xml"/><Relationship Id="rId24" Type="http://schemas.openxmlformats.org/officeDocument/2006/relationships/notesSlide" Target="notesSlides/notesSlide5.xml"/><Relationship Id="rId25" Type="http://schemas.openxmlformats.org/officeDocument/2006/relationships/notesSlide" Target="notesSlides/notesSlide6.xml"/><Relationship Id="rId26" Type="http://schemas.openxmlformats.org/officeDocument/2006/relationships/notesSlide" Target="notesSlides/notesSlide7.xml"/><Relationship Id="rId27" Type="http://schemas.openxmlformats.org/officeDocument/2006/relationships/notesSlide" Target="notesSlides/notesSlide8.xml"/><Relationship Id="rId28" Type="http://schemas.openxmlformats.org/officeDocument/2006/relationships/font" Target="fonts/font28.fntdata"/><Relationship Id="rId29" Type="http://schemas.openxmlformats.org/officeDocument/2006/relationships/notesSlide" Target="notesSlides/notesSlide9.xml"/><Relationship Id="rId30" Type="http://schemas.openxmlformats.org/officeDocument/2006/relationships/notesSlide" Target="notesSlides/notes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gif"/><Relationship Id="rId9" Type="http://schemas.openxmlformats.org/officeDocument/2006/relationships/image" Target="../media/image16.gif"/><Relationship Id="rId10" Type="http://schemas.openxmlformats.org/officeDocument/2006/relationships/image" Target="../media/image17.gif"/><Relationship Id="rId11" Type="http://schemas.openxmlformats.org/officeDocument/2006/relationships/image" Target="../media/image18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9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3429000"/>
            <a:ext cx="96012" cy="2125980"/>
            <a:chOff x="0" y="0"/>
            <a:chExt cx="128016" cy="2834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016" cy="2834640"/>
            </a:xfrm>
            <a:custGeom>
              <a:avLst/>
              <a:gdLst/>
              <a:ahLst/>
              <a:cxnLst/>
              <a:rect r="r" b="b" t="t" l="l"/>
              <a:pathLst>
                <a:path h="283464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2834640"/>
                  </a:lnTo>
                  <a:lnTo>
                    <a:pt x="0" y="2834640"/>
                  </a:lnTo>
                  <a:close/>
                </a:path>
              </a:pathLst>
            </a:custGeom>
            <a:solidFill>
              <a:srgbClr val="89CE39"/>
            </a:solid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77340" y="3758184"/>
            <a:ext cx="15636240" cy="1440180"/>
            <a:chOff x="0" y="0"/>
            <a:chExt cx="20848320" cy="1920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84832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161925"/>
              <a:ext cx="20848320" cy="2082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0"/>
                </a:lnSpc>
              </a:pPr>
              <a:r>
                <a:rPr lang="en-US" sz="7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MCQ Gen AI Creation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18488" y="5280660"/>
            <a:ext cx="15087600" cy="685800"/>
            <a:chOff x="0" y="0"/>
            <a:chExt cx="201168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201168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AI-powered assessment question creation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18488" y="6336792"/>
            <a:ext cx="12344400" cy="685800"/>
            <a:chOff x="0" y="0"/>
            <a:chExt cx="164592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59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64592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a sample set or just a topic — built in-house on Claude.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1399032"/>
            <a:ext cx="16322040" cy="411480"/>
            <a:chOff x="0" y="0"/>
            <a:chExt cx="217627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" y="1810512"/>
            <a:ext cx="16459200" cy="960120"/>
            <a:chOff x="0" y="0"/>
            <a:chExt cx="2194560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9456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we built it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2990088"/>
            <a:ext cx="16322040" cy="754380"/>
            <a:chOff x="0" y="0"/>
            <a:chExt cx="2176272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62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85" r="0" b="-371585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17627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 produce a high volume of assessment questions in-house — and every one of them has to be original.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0120" y="4046220"/>
            <a:ext cx="7886700" cy="3429000"/>
            <a:chOff x="0" y="0"/>
            <a:chExt cx="10515600" cy="4572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156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10515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69296" y="0"/>
                  </a:lnTo>
                  <a:cubicBezTo>
                    <a:pt x="10450068" y="0"/>
                    <a:pt x="10515600" y="65532"/>
                    <a:pt x="10515600" y="146304"/>
                  </a:cubicBezTo>
                  <a:lnTo>
                    <a:pt x="10515600" y="4425696"/>
                  </a:lnTo>
                  <a:cubicBezTo>
                    <a:pt x="10515600" y="4506468"/>
                    <a:pt x="10450068" y="4572000"/>
                    <a:pt x="10369296" y="4572000"/>
                  </a:cubicBezTo>
                  <a:lnTo>
                    <a:pt x="146304" y="4572000"/>
                  </a:lnTo>
                  <a:cubicBezTo>
                    <a:pt x="65532" y="4572000"/>
                    <a:pt x="0" y="4506468"/>
                    <a:pt x="0" y="4425696"/>
                  </a:cubicBezTo>
                  <a:close/>
                </a:path>
              </a:pathLst>
            </a:custGeom>
            <a:solidFill>
              <a:srgbClr val="F4F6F9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95460" y="4046220"/>
            <a:ext cx="7886700" cy="3429000"/>
            <a:chOff x="0" y="0"/>
            <a:chExt cx="10515600" cy="4572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156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10515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369296" y="0"/>
                  </a:lnTo>
                  <a:cubicBezTo>
                    <a:pt x="10450068" y="0"/>
                    <a:pt x="10515600" y="65532"/>
                    <a:pt x="10515600" y="146304"/>
                  </a:cubicBezTo>
                  <a:lnTo>
                    <a:pt x="10515600" y="4425696"/>
                  </a:lnTo>
                  <a:cubicBezTo>
                    <a:pt x="10515600" y="4506468"/>
                    <a:pt x="10450068" y="4572000"/>
                    <a:pt x="10369296" y="4572000"/>
                  </a:cubicBezTo>
                  <a:lnTo>
                    <a:pt x="146304" y="4572000"/>
                  </a:lnTo>
                  <a:cubicBezTo>
                    <a:pt x="65532" y="4572000"/>
                    <a:pt x="0" y="4506468"/>
                    <a:pt x="0" y="4425696"/>
                  </a:cubicBezTo>
                  <a:close/>
                </a:path>
              </a:pathLst>
            </a:custGeom>
            <a:solidFill>
              <a:srgbClr val="F4F6F9"/>
            </a:solid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40180" y="4485132"/>
            <a:ext cx="576072" cy="576072"/>
            <a:chOff x="0" y="0"/>
            <a:chExt cx="768096" cy="768096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9875520" y="4485132"/>
            <a:ext cx="576072" cy="576072"/>
            <a:chOff x="0" y="0"/>
            <a:chExt cx="768096" cy="768096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40180" y="5253228"/>
            <a:ext cx="6995160" cy="548640"/>
            <a:chOff x="0" y="0"/>
            <a:chExt cx="932688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9326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volume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40180" y="5911596"/>
            <a:ext cx="6995160" cy="1371600"/>
            <a:chOff x="0" y="0"/>
            <a:chExt cx="9326880" cy="1828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26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73" r="0" b="-49373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932688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Our teams author questions across many skills, roles, and difficulty levels. Collecting them from SMEs is slow and can't keep pace with demand.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875520" y="5253228"/>
            <a:ext cx="6995160" cy="548640"/>
            <a:chOff x="0" y="0"/>
            <a:chExt cx="932688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9326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originality bar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875520" y="5911596"/>
            <a:ext cx="6995160" cy="1371600"/>
            <a:chOff x="0" y="0"/>
            <a:chExt cx="9326880" cy="182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326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73" r="0" b="-49373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932688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Leaked or duplicated questions quietly undermine test validity. Originality has to be assured when a question is written — not hoped for and checked later.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0120" y="7886700"/>
            <a:ext cx="16322040" cy="685800"/>
            <a:chOff x="0" y="0"/>
            <a:chExt cx="2176272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743" r="0" b="-41374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17627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MCQ Gen AI Creation was built to handle both at once — speed, without giving up originality.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1399032"/>
            <a:ext cx="16322040" cy="411480"/>
            <a:chOff x="0" y="0"/>
            <a:chExt cx="217627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OVERVIEW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" y="1810512"/>
            <a:ext cx="16459200" cy="960120"/>
            <a:chOff x="0" y="0"/>
            <a:chExt cx="2194560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9456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it is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2990088"/>
            <a:ext cx="16322040" cy="754380"/>
            <a:chOff x="0" y="0"/>
            <a:chExt cx="2176272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62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585" r="0" b="-371585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176272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3333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Turn a topic — with or without sample questions — into ready-to-use, original MCQs.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0120" y="3771900"/>
            <a:ext cx="16322040" cy="548640"/>
            <a:chOff x="0" y="0"/>
            <a:chExt cx="217627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1762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in-house on Claude's API.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0120" y="4732020"/>
            <a:ext cx="5253228" cy="3291840"/>
            <a:chOff x="0" y="0"/>
            <a:chExt cx="7004304" cy="4389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04304" cy="4389120"/>
            </a:xfrm>
            <a:custGeom>
              <a:avLst/>
              <a:gdLst/>
              <a:ahLst/>
              <a:cxnLst/>
              <a:rect r="r" b="b" t="t" l="l"/>
              <a:pathLst>
                <a:path h="4389120" w="70043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58000" y="0"/>
                  </a:lnTo>
                  <a:cubicBezTo>
                    <a:pt x="6938772" y="0"/>
                    <a:pt x="7004304" y="65532"/>
                    <a:pt x="7004304" y="146304"/>
                  </a:cubicBezTo>
                  <a:lnTo>
                    <a:pt x="7004304" y="4242816"/>
                  </a:lnTo>
                  <a:cubicBezTo>
                    <a:pt x="7004304" y="4323588"/>
                    <a:pt x="6938772" y="4389120"/>
                    <a:pt x="6858000" y="4389120"/>
                  </a:cubicBezTo>
                  <a:lnTo>
                    <a:pt x="146304" y="4389120"/>
                  </a:lnTo>
                  <a:cubicBezTo>
                    <a:pt x="65532" y="4389120"/>
                    <a:pt x="0" y="4323588"/>
                    <a:pt x="0" y="4242816"/>
                  </a:cubicBezTo>
                  <a:close/>
                </a:path>
              </a:pathLst>
            </a:custGeom>
            <a:solidFill>
              <a:srgbClr val="F4F6F9"/>
            </a:solid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40180" y="5225796"/>
            <a:ext cx="548640" cy="548640"/>
            <a:chOff x="0" y="0"/>
            <a:chExt cx="731520" cy="73152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40180" y="5939028"/>
            <a:ext cx="4293108" cy="617220"/>
            <a:chOff x="0" y="0"/>
            <a:chExt cx="5724144" cy="822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24144" cy="822960"/>
            </a:xfrm>
            <a:custGeom>
              <a:avLst/>
              <a:gdLst/>
              <a:ahLst/>
              <a:cxnLst/>
              <a:rect r="r" b="b" t="t" l="l"/>
              <a:pathLst>
                <a:path h="82296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529" r="0" b="-85529"/>
              </a:stretch>
            </a:blipFill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5724144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Two ways in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40180" y="6624828"/>
            <a:ext cx="4320540" cy="1303020"/>
            <a:chOff x="0" y="0"/>
            <a:chExt cx="5760720" cy="1737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7607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08" r="0" b="-14608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76072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Start from a sample set, or from just a topic and question type.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487668" y="4732020"/>
            <a:ext cx="5253228" cy="3291840"/>
            <a:chOff x="0" y="0"/>
            <a:chExt cx="7004304" cy="4389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04304" cy="4389120"/>
            </a:xfrm>
            <a:custGeom>
              <a:avLst/>
              <a:gdLst/>
              <a:ahLst/>
              <a:cxnLst/>
              <a:rect r="r" b="b" t="t" l="l"/>
              <a:pathLst>
                <a:path h="4389120" w="70043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58000" y="0"/>
                  </a:lnTo>
                  <a:cubicBezTo>
                    <a:pt x="6938772" y="0"/>
                    <a:pt x="7004304" y="65532"/>
                    <a:pt x="7004304" y="146304"/>
                  </a:cubicBezTo>
                  <a:lnTo>
                    <a:pt x="7004304" y="4242816"/>
                  </a:lnTo>
                  <a:cubicBezTo>
                    <a:pt x="7004304" y="4323588"/>
                    <a:pt x="6938772" y="4389120"/>
                    <a:pt x="6858000" y="4389120"/>
                  </a:cubicBezTo>
                  <a:lnTo>
                    <a:pt x="146304" y="4389120"/>
                  </a:lnTo>
                  <a:cubicBezTo>
                    <a:pt x="65532" y="4389120"/>
                    <a:pt x="0" y="4323588"/>
                    <a:pt x="0" y="4242816"/>
                  </a:cubicBezTo>
                  <a:close/>
                </a:path>
              </a:pathLst>
            </a:custGeom>
            <a:solidFill>
              <a:srgbClr val="F4F6F9"/>
            </a:solid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6967728" y="5225796"/>
            <a:ext cx="548640" cy="548640"/>
            <a:chOff x="0" y="0"/>
            <a:chExt cx="731520" cy="73152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6967728" y="5939028"/>
            <a:ext cx="4293108" cy="617220"/>
            <a:chOff x="0" y="0"/>
            <a:chExt cx="5724144" cy="822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24144" cy="822960"/>
            </a:xfrm>
            <a:custGeom>
              <a:avLst/>
              <a:gdLst/>
              <a:ahLst/>
              <a:cxnLst/>
              <a:rect r="r" b="b" t="t" l="l"/>
              <a:pathLst>
                <a:path h="82296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529" r="0" b="-85529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724144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Runs at volume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967728" y="6624828"/>
            <a:ext cx="4320540" cy="1303020"/>
            <a:chOff x="0" y="0"/>
            <a:chExt cx="5760720" cy="1737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607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08" r="0" b="-14608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76072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Generates in the background, in parallel batches — not one at a time.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015216" y="4732020"/>
            <a:ext cx="5253228" cy="3291840"/>
            <a:chOff x="0" y="0"/>
            <a:chExt cx="7004304" cy="4389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004304" cy="4389120"/>
            </a:xfrm>
            <a:custGeom>
              <a:avLst/>
              <a:gdLst/>
              <a:ahLst/>
              <a:cxnLst/>
              <a:rect r="r" b="b" t="t" l="l"/>
              <a:pathLst>
                <a:path h="4389120" w="70043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58000" y="0"/>
                  </a:lnTo>
                  <a:cubicBezTo>
                    <a:pt x="6938772" y="0"/>
                    <a:pt x="7004304" y="65532"/>
                    <a:pt x="7004304" y="146304"/>
                  </a:cubicBezTo>
                  <a:lnTo>
                    <a:pt x="7004304" y="4242816"/>
                  </a:lnTo>
                  <a:cubicBezTo>
                    <a:pt x="7004304" y="4323588"/>
                    <a:pt x="6938772" y="4389120"/>
                    <a:pt x="6858000" y="4389120"/>
                  </a:cubicBezTo>
                  <a:lnTo>
                    <a:pt x="146304" y="4389120"/>
                  </a:lnTo>
                  <a:cubicBezTo>
                    <a:pt x="65532" y="4389120"/>
                    <a:pt x="0" y="4323588"/>
                    <a:pt x="0" y="4242816"/>
                  </a:cubicBezTo>
                  <a:close/>
                </a:path>
              </a:pathLst>
            </a:custGeom>
            <a:solidFill>
              <a:srgbClr val="F4F6F9"/>
            </a:solidFill>
          </p:spPr>
          <p:txBody>
            <a:bodyPr/>
            <a:p/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95276" y="5225796"/>
            <a:ext cx="548640" cy="548640"/>
            <a:chOff x="0" y="0"/>
            <a:chExt cx="731520" cy="731520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495276" y="5939028"/>
            <a:ext cx="4293108" cy="617220"/>
            <a:chOff x="0" y="0"/>
            <a:chExt cx="5724144" cy="8229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724144" cy="822960"/>
            </a:xfrm>
            <a:custGeom>
              <a:avLst/>
              <a:gdLst/>
              <a:ahLst/>
              <a:cxnLst/>
              <a:rect r="r" b="b" t="t" l="l"/>
              <a:pathLst>
                <a:path h="82296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529" r="0" b="-85529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5724144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Original by default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495276" y="6624828"/>
            <a:ext cx="4320540" cy="1303020"/>
            <a:chOff x="0" y="0"/>
            <a:chExt cx="5760720" cy="17373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7607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08" r="0" b="-14608"/>
              </a:stretch>
            </a:blipFill>
          </p:spPr>
          <p:txBody>
            <a:bodyPr/>
            <a:p/>
          </p:txBody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576072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Grounded on real sources, answer-checked, and self-corrected before anything reaches you.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 82"/>
          <p:cNvSpPr/>
          <p:nvPr/>
        </p:nvSpPr>
        <p:spPr>
          <a:xfrm>
            <a:off x="11649456" y="6446520"/>
            <a:ext cx="5257800" cy="310896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E6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117336" y="6446520"/>
            <a:ext cx="5257800" cy="310896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E6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94360" y="6446520"/>
            <a:ext cx="5257800" cy="310896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E6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1649456" y="3291840"/>
            <a:ext cx="5257800" cy="315468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E6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117336" y="3291840"/>
            <a:ext cx="5257800" cy="315468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E6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94360" y="3291840"/>
            <a:ext cx="5257800" cy="3154680"/>
          </a:xfrm>
          <a:prstGeom prst="roundRect">
            <a:avLst>
              <a:gd name="adj" fmla="val 3500"/>
            </a:avLst>
          </a:prstGeom>
          <a:solidFill>
            <a:srgbClr val="F5F7FA"/>
          </a:solidFill>
          <a:ln w="9525">
            <a:solidFill>
              <a:srgbClr val="E6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1399032"/>
            <a:ext cx="16322040" cy="411480"/>
            <a:chOff x="0" y="0"/>
            <a:chExt cx="217627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WORKFLOW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" y="1810512"/>
            <a:ext cx="16459200" cy="960120"/>
            <a:chOff x="0" y="0"/>
            <a:chExt cx="2194560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9456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2990088"/>
            <a:ext cx="16322040" cy="617220"/>
            <a:chOff x="0" y="0"/>
            <a:chExt cx="21762720" cy="822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62720" cy="822960"/>
            </a:xfrm>
            <a:custGeom>
              <a:avLst/>
              <a:gdLst/>
              <a:ahLst/>
              <a:cxnLst/>
              <a:rect r="r" b="b" t="t" l="l"/>
              <a:pathLst>
                <a:path h="8229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270" r="0" b="-465270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176272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a topic to a verified, upload-ready question set — in six steps.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60120" y="3707130"/>
            <a:ext cx="1234440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0386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42416" y="5047488"/>
            <a:ext cx="685800" cy="61722"/>
            <a:chOff x="0" y="0"/>
            <a:chExt cx="914400" cy="822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82296"/>
            </a:xfrm>
            <a:custGeom>
              <a:avLst/>
              <a:gdLst/>
              <a:ahLst/>
              <a:cxnLst/>
              <a:rect r="r" b="b" t="t" l="l"/>
              <a:pathLst>
                <a:path h="8229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9CE39"/>
            </a:solid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0120" y="5212080"/>
            <a:ext cx="4978908" cy="548640"/>
            <a:chOff x="0" y="0"/>
            <a:chExt cx="6638544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38544" cy="731520"/>
            </a:xfrm>
            <a:custGeom>
              <a:avLst/>
              <a:gdLst/>
              <a:ahLst/>
              <a:cxnLst/>
              <a:rect r="r" b="b" t="t" l="l"/>
              <a:pathLst>
                <a:path h="731520" w="6638544">
                  <a:moveTo>
                    <a:pt x="0" y="0"/>
                  </a:moveTo>
                  <a:lnTo>
                    <a:pt x="6638544" y="0"/>
                  </a:lnTo>
                  <a:lnTo>
                    <a:pt x="6638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826" r="0" b="-126826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6385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Pick a mode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0120" y="5788152"/>
            <a:ext cx="4910328" cy="891540"/>
            <a:chOff x="0" y="0"/>
            <a:chExt cx="6547104" cy="1188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47104" cy="1188720"/>
            </a:xfrm>
            <a:custGeom>
              <a:avLst/>
              <a:gdLst/>
              <a:ahLst/>
              <a:cxnLst/>
              <a:rect r="r" b="b" t="t" l="l"/>
              <a:pathLst>
                <a:path h="1188720" w="6547104">
                  <a:moveTo>
                    <a:pt x="0" y="0"/>
                  </a:moveTo>
                  <a:lnTo>
                    <a:pt x="6547104" y="0"/>
                  </a:lnTo>
                  <a:lnTo>
                    <a:pt x="6547104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7" r="0" b="-57317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547104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 samples, or just a topic and type.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487668" y="3707130"/>
            <a:ext cx="1234440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0386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569964" y="5047488"/>
            <a:ext cx="685800" cy="61722"/>
            <a:chOff x="0" y="0"/>
            <a:chExt cx="914400" cy="822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82296"/>
            </a:xfrm>
            <a:custGeom>
              <a:avLst/>
              <a:gdLst/>
              <a:ahLst/>
              <a:cxnLst/>
              <a:rect r="r" b="b" t="t" l="l"/>
              <a:pathLst>
                <a:path h="8229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9CE39"/>
            </a:solidFill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6487668" y="5212080"/>
            <a:ext cx="4978908" cy="548640"/>
            <a:chOff x="0" y="0"/>
            <a:chExt cx="6638544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38544" cy="731520"/>
            </a:xfrm>
            <a:custGeom>
              <a:avLst/>
              <a:gdLst/>
              <a:ahLst/>
              <a:cxnLst/>
              <a:rect r="r" b="b" t="t" l="l"/>
              <a:pathLst>
                <a:path h="731520" w="6638544">
                  <a:moveTo>
                    <a:pt x="0" y="0"/>
                  </a:moveTo>
                  <a:lnTo>
                    <a:pt x="6638544" y="0"/>
                  </a:lnTo>
                  <a:lnTo>
                    <a:pt x="6638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826" r="0" b="-126826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66385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Configure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487668" y="5788152"/>
            <a:ext cx="4910328" cy="891540"/>
            <a:chOff x="0" y="0"/>
            <a:chExt cx="6547104" cy="1188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47104" cy="1188720"/>
            </a:xfrm>
            <a:custGeom>
              <a:avLst/>
              <a:gdLst/>
              <a:ahLst/>
              <a:cxnLst/>
              <a:rect r="r" b="b" t="t" l="l"/>
              <a:pathLst>
                <a:path h="1188720" w="6547104">
                  <a:moveTo>
                    <a:pt x="0" y="0"/>
                  </a:moveTo>
                  <a:lnTo>
                    <a:pt x="6547104" y="0"/>
                  </a:lnTo>
                  <a:lnTo>
                    <a:pt x="6547104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7" r="0" b="-57317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6547104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 the type, quantity, and difficulty.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015216" y="3707130"/>
            <a:ext cx="1234440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0386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097512" y="5047488"/>
            <a:ext cx="685800" cy="61722"/>
            <a:chOff x="0" y="0"/>
            <a:chExt cx="914400" cy="822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82296"/>
            </a:xfrm>
            <a:custGeom>
              <a:avLst/>
              <a:gdLst/>
              <a:ahLst/>
              <a:cxnLst/>
              <a:rect r="r" b="b" t="t" l="l"/>
              <a:pathLst>
                <a:path h="8229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9CE39"/>
            </a:solid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015216" y="5212080"/>
            <a:ext cx="4978908" cy="548640"/>
            <a:chOff x="0" y="0"/>
            <a:chExt cx="6638544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38544" cy="731520"/>
            </a:xfrm>
            <a:custGeom>
              <a:avLst/>
              <a:gdLst/>
              <a:ahLst/>
              <a:cxnLst/>
              <a:rect r="r" b="b" t="t" l="l"/>
              <a:pathLst>
                <a:path h="731520" w="6638544">
                  <a:moveTo>
                    <a:pt x="0" y="0"/>
                  </a:moveTo>
                  <a:lnTo>
                    <a:pt x="6638544" y="0"/>
                  </a:lnTo>
                  <a:lnTo>
                    <a:pt x="6638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826" r="0" b="-126826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66385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Choose model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015216" y="5788152"/>
            <a:ext cx="4910328" cy="891540"/>
            <a:chOff x="0" y="0"/>
            <a:chExt cx="6547104" cy="11887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47104" cy="1188720"/>
            </a:xfrm>
            <a:custGeom>
              <a:avLst/>
              <a:gdLst/>
              <a:ahLst/>
              <a:cxnLst/>
              <a:rect r="r" b="b" t="t" l="l"/>
              <a:pathLst>
                <a:path h="1188720" w="6547104">
                  <a:moveTo>
                    <a:pt x="0" y="0"/>
                  </a:moveTo>
                  <a:lnTo>
                    <a:pt x="6547104" y="0"/>
                  </a:lnTo>
                  <a:lnTo>
                    <a:pt x="6547104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7" r="0" b="-57317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6547104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Lighter or heavier, to fit the job.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60120" y="6450330"/>
            <a:ext cx="1234440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0386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042416" y="7790688"/>
            <a:ext cx="685800" cy="61722"/>
            <a:chOff x="0" y="0"/>
            <a:chExt cx="914400" cy="822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82296"/>
            </a:xfrm>
            <a:custGeom>
              <a:avLst/>
              <a:gdLst/>
              <a:ahLst/>
              <a:cxnLst/>
              <a:rect r="r" b="b" t="t" l="l"/>
              <a:pathLst>
                <a:path h="8229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9CE39"/>
            </a:solidFill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0120" y="7955280"/>
            <a:ext cx="4978908" cy="548640"/>
            <a:chOff x="0" y="0"/>
            <a:chExt cx="6638544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638544" cy="731520"/>
            </a:xfrm>
            <a:custGeom>
              <a:avLst/>
              <a:gdLst/>
              <a:ahLst/>
              <a:cxnLst/>
              <a:rect r="r" b="b" t="t" l="l"/>
              <a:pathLst>
                <a:path h="731520" w="6638544">
                  <a:moveTo>
                    <a:pt x="0" y="0"/>
                  </a:moveTo>
                  <a:lnTo>
                    <a:pt x="6638544" y="0"/>
                  </a:lnTo>
                  <a:lnTo>
                    <a:pt x="6638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826" r="0" b="-126826"/>
              </a:stretch>
            </a:blipFill>
          </p:spPr>
          <p:txBody>
            <a:bodyPr/>
            <a:p/>
          </p:txBody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66385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 prompts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60120" y="8531352"/>
            <a:ext cx="4910328" cy="891540"/>
            <a:chOff x="0" y="0"/>
            <a:chExt cx="6547104" cy="11887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547104" cy="1188720"/>
            </a:xfrm>
            <a:custGeom>
              <a:avLst/>
              <a:gdLst/>
              <a:ahLst/>
              <a:cxnLst/>
              <a:rect r="r" b="b" t="t" l="l"/>
              <a:pathLst>
                <a:path h="1188720" w="6547104">
                  <a:moveTo>
                    <a:pt x="0" y="0"/>
                  </a:moveTo>
                  <a:lnTo>
                    <a:pt x="6547104" y="0"/>
                  </a:lnTo>
                  <a:lnTo>
                    <a:pt x="6547104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7" r="0" b="-57317"/>
              </a:stretch>
            </a:blipFill>
          </p:spPr>
          <p:txBody>
            <a:bodyPr/>
            <a:p/>
          </p:txBody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547104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Positive and negative guidance to steer output.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6487668" y="6450330"/>
            <a:ext cx="1234440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0386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6569964" y="7790688"/>
            <a:ext cx="685800" cy="61722"/>
            <a:chOff x="0" y="0"/>
            <a:chExt cx="914400" cy="822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4400" cy="82296"/>
            </a:xfrm>
            <a:custGeom>
              <a:avLst/>
              <a:gdLst/>
              <a:ahLst/>
              <a:cxnLst/>
              <a:rect r="r" b="b" t="t" l="l"/>
              <a:pathLst>
                <a:path h="8229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9CE39"/>
            </a:solidFill>
          </p:spPr>
          <p:txBody>
            <a:bodyPr/>
            <a:p/>
          </p:txBody>
        </p:sp>
      </p:grpSp>
      <p:grpSp>
        <p:nvGrpSpPr>
          <p:cNvPr name="Group 63" id="63"/>
          <p:cNvGrpSpPr/>
          <p:nvPr/>
        </p:nvGrpSpPr>
        <p:grpSpPr>
          <a:xfrm rot="0">
            <a:off x="6487668" y="7955280"/>
            <a:ext cx="4978908" cy="548640"/>
            <a:chOff x="0" y="0"/>
            <a:chExt cx="6638544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638544" cy="731520"/>
            </a:xfrm>
            <a:custGeom>
              <a:avLst/>
              <a:gdLst/>
              <a:ahLst/>
              <a:cxnLst/>
              <a:rect r="r" b="b" t="t" l="l"/>
              <a:pathLst>
                <a:path h="731520" w="6638544">
                  <a:moveTo>
                    <a:pt x="0" y="0"/>
                  </a:moveTo>
                  <a:lnTo>
                    <a:pt x="6638544" y="0"/>
                  </a:lnTo>
                  <a:lnTo>
                    <a:pt x="6638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826" r="0" b="-126826"/>
              </a:stretch>
            </a:blipFill>
          </p:spPr>
          <p:txBody>
            <a:bodyPr/>
            <a:p/>
          </p:txBody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66385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487668" y="8531352"/>
            <a:ext cx="4910328" cy="891540"/>
            <a:chOff x="0" y="0"/>
            <a:chExt cx="6547104" cy="11887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547104" cy="1188720"/>
            </a:xfrm>
            <a:custGeom>
              <a:avLst/>
              <a:gdLst/>
              <a:ahLst/>
              <a:cxnLst/>
              <a:rect r="r" b="b" t="t" l="l"/>
              <a:pathLst>
                <a:path h="1188720" w="6547104">
                  <a:moveTo>
                    <a:pt x="0" y="0"/>
                  </a:moveTo>
                  <a:lnTo>
                    <a:pt x="6547104" y="0"/>
                  </a:lnTo>
                  <a:lnTo>
                    <a:pt x="6547104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7" r="0" b="-57317"/>
              </a:stretch>
            </a:blip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6547104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Runs in the background, in parallel batches of 50.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2015216" y="6450330"/>
            <a:ext cx="1234440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0386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097512" y="7790688"/>
            <a:ext cx="685800" cy="61722"/>
            <a:chOff x="0" y="0"/>
            <a:chExt cx="914400" cy="822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4400" cy="82296"/>
            </a:xfrm>
            <a:custGeom>
              <a:avLst/>
              <a:gdLst/>
              <a:ahLst/>
              <a:cxnLst/>
              <a:rect r="r" b="b" t="t" l="l"/>
              <a:pathLst>
                <a:path h="82296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82296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89CE39"/>
            </a:solidFill>
          </p:spPr>
          <p:txBody>
            <a:bodyPr/>
            <a:p/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015216" y="7955280"/>
            <a:ext cx="4978908" cy="548640"/>
            <a:chOff x="0" y="0"/>
            <a:chExt cx="6638544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638544" cy="731520"/>
            </a:xfrm>
            <a:custGeom>
              <a:avLst/>
              <a:gdLst/>
              <a:ahLst/>
              <a:cxnLst/>
              <a:rect r="r" b="b" t="t" l="l"/>
              <a:pathLst>
                <a:path h="731520" w="6638544">
                  <a:moveTo>
                    <a:pt x="0" y="0"/>
                  </a:moveTo>
                  <a:lnTo>
                    <a:pt x="6638544" y="0"/>
                  </a:lnTo>
                  <a:lnTo>
                    <a:pt x="6638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826" r="0" b="-126826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66385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Finalize &amp; export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015216" y="8531352"/>
            <a:ext cx="4910328" cy="891540"/>
            <a:chOff x="0" y="0"/>
            <a:chExt cx="6547104" cy="11887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547104" cy="1188720"/>
            </a:xfrm>
            <a:custGeom>
              <a:avLst/>
              <a:gdLst/>
              <a:ahLst/>
              <a:cxnLst/>
              <a:rect r="r" b="b" t="t" l="l"/>
              <a:pathLst>
                <a:path h="1188720" w="6547104">
                  <a:moveTo>
                    <a:pt x="0" y="0"/>
                  </a:moveTo>
                  <a:lnTo>
                    <a:pt x="6547104" y="0"/>
                  </a:lnTo>
                  <a:lnTo>
                    <a:pt x="6547104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17" r="0" b="-57317"/>
              </a:stretch>
            </a:blipFill>
          </p:spPr>
          <p:txBody>
            <a:bodyPr/>
            <a:p/>
          </p:txBody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6547104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Plagiarism check, auto-revamp, Mettl-ready file.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1399032"/>
            <a:ext cx="16322040" cy="411480"/>
            <a:chOff x="0" y="0"/>
            <a:chExt cx="217627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· FROM SCRATCH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" y="1810512"/>
            <a:ext cx="16459200" cy="960120"/>
            <a:chOff x="0" y="0"/>
            <a:chExt cx="2194560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9456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Start from just a topic</a:t>
              </a:r>
            </a:p>
          </p:txBody>
        </p:sp>
      </p:grpSp>
      <p:pic>
        <p:nvPicPr>
          <p:cNvPr id="21" name="Picture 20" descr="scratch_flow.gi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0" y="2880360"/>
            <a:ext cx="13716000" cy="6437376"/>
          </a:xfrm>
          <a:prstGeom prst="rect">
            <a:avLst/>
          </a:prstGeom>
          <a:ln w="12700">
            <a:solidFill>
              <a:srgbClr val="D3D8E0"/>
            </a:solidFill>
          </a:ln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1399032"/>
            <a:ext cx="16322040" cy="411480"/>
            <a:chOff x="0" y="0"/>
            <a:chExt cx="217627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· FROM SAMPLES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" y="1810512"/>
            <a:ext cx="16459200" cy="960120"/>
            <a:chOff x="0" y="0"/>
            <a:chExt cx="2194560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9456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Match your sample set</a:t>
              </a:r>
            </a:p>
          </p:txBody>
        </p:sp>
      </p:grpSp>
      <p:pic>
        <p:nvPicPr>
          <p:cNvPr id="21" name="Picture 20" descr="samples_flow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2880360"/>
            <a:ext cx="13716000" cy="6437376"/>
          </a:xfrm>
          <a:prstGeom prst="rect">
            <a:avLst/>
          </a:prstGeom>
          <a:ln w="12700">
            <a:solidFill>
              <a:srgbClr val="D3D8E0"/>
            </a:solidFill>
          </a:ln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1399032"/>
            <a:ext cx="16322040" cy="411480"/>
            <a:chOff x="0" y="0"/>
            <a:chExt cx="217627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 SCALE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" y="1810512"/>
            <a:ext cx="16459200" cy="960120"/>
            <a:chOff x="0" y="0"/>
            <a:chExt cx="2194560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9456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 for volume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2990088"/>
            <a:ext cx="16322040" cy="617220"/>
            <a:chOff x="0" y="0"/>
            <a:chExt cx="21762720" cy="822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62720" cy="822960"/>
            </a:xfrm>
            <a:custGeom>
              <a:avLst/>
              <a:gdLst/>
              <a:ahLst/>
              <a:cxnLst/>
              <a:rect r="r" b="b" t="t" l="l"/>
              <a:pathLst>
                <a:path h="8229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270" r="0" b="-465270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176272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Generation isn't one question at a time — it's a pipeline that keeps running.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0120" y="4114800"/>
            <a:ext cx="5253228" cy="3634740"/>
            <a:chOff x="0" y="0"/>
            <a:chExt cx="7004304" cy="4846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04304" cy="4846320"/>
            </a:xfrm>
            <a:custGeom>
              <a:avLst/>
              <a:gdLst/>
              <a:ahLst/>
              <a:cxnLst/>
              <a:rect r="r" b="b" t="t" l="l"/>
              <a:pathLst>
                <a:path h="4846320" w="70043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58000" y="0"/>
                  </a:lnTo>
                  <a:cubicBezTo>
                    <a:pt x="6938772" y="0"/>
                    <a:pt x="7004304" y="65532"/>
                    <a:pt x="7004304" y="146304"/>
                  </a:cubicBezTo>
                  <a:lnTo>
                    <a:pt x="7004304" y="4700016"/>
                  </a:lnTo>
                  <a:cubicBezTo>
                    <a:pt x="7004304" y="4780788"/>
                    <a:pt x="6938772" y="4846320"/>
                    <a:pt x="6858000" y="4846320"/>
                  </a:cubicBezTo>
                  <a:lnTo>
                    <a:pt x="146304" y="4846320"/>
                  </a:lnTo>
                  <a:cubicBezTo>
                    <a:pt x="65532" y="4846320"/>
                    <a:pt x="0" y="4780788"/>
                    <a:pt x="0" y="4700016"/>
                  </a:cubicBezTo>
                  <a:close/>
                </a:path>
              </a:pathLst>
            </a:custGeom>
            <a:solidFill>
              <a:srgbClr val="F4F6F9"/>
            </a:solid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40180" y="4608576"/>
            <a:ext cx="576072" cy="576072"/>
            <a:chOff x="0" y="0"/>
            <a:chExt cx="768096" cy="768096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40180" y="5349240"/>
            <a:ext cx="4293108" cy="960120"/>
            <a:chOff x="0" y="0"/>
            <a:chExt cx="5724144" cy="1280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241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25" r="0" b="-37125"/>
              </a:stretch>
            </a:blipFill>
          </p:spPr>
          <p:txBody>
            <a:bodyPr/>
            <a:p/>
          </p:txBody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5724144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Runs in the background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40180" y="6172200"/>
            <a:ext cx="4320540" cy="1371600"/>
            <a:chOff x="0" y="0"/>
            <a:chExt cx="5760720" cy="1828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60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77" r="0" b="-11377"/>
              </a:stretch>
            </a:blipFill>
          </p:spPr>
          <p:txBody>
            <a:bodyPr/>
            <a:p/>
          </p:txBody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57607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Once started, generation runs server-side and keeps going — you don't wait on the screen.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487668" y="4114800"/>
            <a:ext cx="5253228" cy="3634740"/>
            <a:chOff x="0" y="0"/>
            <a:chExt cx="7004304" cy="4846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04304" cy="4846320"/>
            </a:xfrm>
            <a:custGeom>
              <a:avLst/>
              <a:gdLst/>
              <a:ahLst/>
              <a:cxnLst/>
              <a:rect r="r" b="b" t="t" l="l"/>
              <a:pathLst>
                <a:path h="4846320" w="70043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58000" y="0"/>
                  </a:lnTo>
                  <a:cubicBezTo>
                    <a:pt x="6938772" y="0"/>
                    <a:pt x="7004304" y="65532"/>
                    <a:pt x="7004304" y="146304"/>
                  </a:cubicBezTo>
                  <a:lnTo>
                    <a:pt x="7004304" y="4700016"/>
                  </a:lnTo>
                  <a:cubicBezTo>
                    <a:pt x="7004304" y="4780788"/>
                    <a:pt x="6938772" y="4846320"/>
                    <a:pt x="6858000" y="4846320"/>
                  </a:cubicBezTo>
                  <a:lnTo>
                    <a:pt x="146304" y="4846320"/>
                  </a:lnTo>
                  <a:cubicBezTo>
                    <a:pt x="65532" y="4846320"/>
                    <a:pt x="0" y="4780788"/>
                    <a:pt x="0" y="4700016"/>
                  </a:cubicBezTo>
                  <a:close/>
                </a:path>
              </a:pathLst>
            </a:custGeom>
            <a:solidFill>
              <a:srgbClr val="F4F6F9"/>
            </a:solidFill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6967728" y="4608576"/>
            <a:ext cx="576072" cy="576072"/>
            <a:chOff x="0" y="0"/>
            <a:chExt cx="768096" cy="768096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67728" y="5349240"/>
            <a:ext cx="4293108" cy="960120"/>
            <a:chOff x="0" y="0"/>
            <a:chExt cx="5724144" cy="1280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241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25" r="0" b="-37125"/>
              </a:stretch>
            </a:blipFill>
          </p:spPr>
          <p:txBody>
            <a:bodyPr/>
            <a:p/>
          </p:txBody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724144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Batches of 50, in parallel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967728" y="6172200"/>
            <a:ext cx="4320540" cy="1371600"/>
            <a:chOff x="0" y="0"/>
            <a:chExt cx="5760720" cy="182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60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77" r="0" b="-11377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57607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are produced 50 at a time, in parallel, so large sets come back fast.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015216" y="4114800"/>
            <a:ext cx="5253228" cy="3634740"/>
            <a:chOff x="0" y="0"/>
            <a:chExt cx="7004304" cy="48463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04304" cy="4846320"/>
            </a:xfrm>
            <a:custGeom>
              <a:avLst/>
              <a:gdLst/>
              <a:ahLst/>
              <a:cxnLst/>
              <a:rect r="r" b="b" t="t" l="l"/>
              <a:pathLst>
                <a:path h="4846320" w="700430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58000" y="0"/>
                  </a:lnTo>
                  <a:cubicBezTo>
                    <a:pt x="6938772" y="0"/>
                    <a:pt x="7004304" y="65532"/>
                    <a:pt x="7004304" y="146304"/>
                  </a:cubicBezTo>
                  <a:lnTo>
                    <a:pt x="7004304" y="4700016"/>
                  </a:lnTo>
                  <a:cubicBezTo>
                    <a:pt x="7004304" y="4780788"/>
                    <a:pt x="6938772" y="4846320"/>
                    <a:pt x="6858000" y="4846320"/>
                  </a:cubicBezTo>
                  <a:lnTo>
                    <a:pt x="146304" y="4846320"/>
                  </a:lnTo>
                  <a:cubicBezTo>
                    <a:pt x="65532" y="4846320"/>
                    <a:pt x="0" y="4780788"/>
                    <a:pt x="0" y="4700016"/>
                  </a:cubicBezTo>
                  <a:close/>
                </a:path>
              </a:pathLst>
            </a:custGeom>
            <a:solidFill>
              <a:srgbClr val="F4F6F9"/>
            </a:solidFill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495276" y="4608576"/>
            <a:ext cx="576072" cy="576072"/>
            <a:chOff x="0" y="0"/>
            <a:chExt cx="768096" cy="768096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495276" y="5349240"/>
            <a:ext cx="4293108" cy="960120"/>
            <a:chOff x="0" y="0"/>
            <a:chExt cx="5724144" cy="12801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7241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5724144">
                  <a:moveTo>
                    <a:pt x="0" y="0"/>
                  </a:moveTo>
                  <a:lnTo>
                    <a:pt x="5724144" y="0"/>
                  </a:lnTo>
                  <a:lnTo>
                    <a:pt x="5724144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125" r="0" b="-37125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5724144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Mettl-ready export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495276" y="6172200"/>
            <a:ext cx="4320540" cy="1371600"/>
            <a:chOff x="0" y="0"/>
            <a:chExt cx="5760720" cy="1828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760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77" r="0" b="-11377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57607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Output downloads in Mercer Mettl's bulk-upload format — ready to import.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1399032"/>
            <a:ext cx="16322040" cy="411480"/>
            <a:chOff x="0" y="0"/>
            <a:chExt cx="217627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ORIGINALITY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" y="1810512"/>
            <a:ext cx="16459200" cy="960120"/>
            <a:chOff x="0" y="0"/>
            <a:chExt cx="2194560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9456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 doesn't just flag — it fixes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2990088"/>
            <a:ext cx="16322040" cy="617220"/>
            <a:chOff x="0" y="0"/>
            <a:chExt cx="21762720" cy="8229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62720" cy="822960"/>
            </a:xfrm>
            <a:custGeom>
              <a:avLst/>
              <a:gdLst/>
              <a:ahLst/>
              <a:cxnLst/>
              <a:rect r="r" b="b" t="t" l="l"/>
              <a:pathLst>
                <a:path h="8229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270" r="0" b="-465270"/>
              </a:stretch>
            </a:blipFill>
          </p:spPr>
          <p:txBody>
            <a:bodyPr/>
            <a:p/>
          </p:txBody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176272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Plagiarism handling runs inside generation, not as a separate pass afterward.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5832" y="4306253"/>
            <a:ext cx="3663315" cy="1880235"/>
            <a:chOff x="0" y="0"/>
            <a:chExt cx="4884420" cy="25069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84420" cy="2506980"/>
            </a:xfrm>
            <a:custGeom>
              <a:avLst/>
              <a:gdLst/>
              <a:ahLst/>
              <a:cxnLst/>
              <a:rect r="r" b="b" t="t" l="l"/>
              <a:pathLst>
                <a:path h="2506980" w="48844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4735830" y="0"/>
                  </a:lnTo>
                  <a:cubicBezTo>
                    <a:pt x="4817872" y="0"/>
                    <a:pt x="4884420" y="66548"/>
                    <a:pt x="4884420" y="148590"/>
                  </a:cubicBezTo>
                  <a:lnTo>
                    <a:pt x="4884420" y="2358390"/>
                  </a:lnTo>
                  <a:cubicBezTo>
                    <a:pt x="4884420" y="2440432"/>
                    <a:pt x="4817872" y="2506980"/>
                    <a:pt x="4735830" y="2506980"/>
                  </a:cubicBezTo>
                  <a:lnTo>
                    <a:pt x="148590" y="2506980"/>
                  </a:lnTo>
                  <a:cubicBezTo>
                    <a:pt x="66548" y="2506980"/>
                    <a:pt x="0" y="2440432"/>
                    <a:pt x="0" y="235839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386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24712" y="4759452"/>
            <a:ext cx="3305556" cy="548640"/>
            <a:chOff x="0" y="0"/>
            <a:chExt cx="4407408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07408" cy="731520"/>
            </a:xfrm>
            <a:custGeom>
              <a:avLst/>
              <a:gdLst/>
              <a:ahLst/>
              <a:cxnLst/>
              <a:rect r="r" b="b" t="t" l="l"/>
              <a:pathLst>
                <a:path h="731520" w="4407408">
                  <a:moveTo>
                    <a:pt x="0" y="0"/>
                  </a:moveTo>
                  <a:lnTo>
                    <a:pt x="4407408" y="0"/>
                  </a:lnTo>
                  <a:lnTo>
                    <a:pt x="4407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97" r="0" b="-67397"/>
              </a:stretch>
            </a:blipFill>
          </p:spPr>
          <p:txBody>
            <a:bodyPr/>
            <a:p/>
          </p:txBody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407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24712" y="5335524"/>
            <a:ext cx="3305556" cy="548640"/>
            <a:chOff x="0" y="0"/>
            <a:chExt cx="4407408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07408" cy="731520"/>
            </a:xfrm>
            <a:custGeom>
              <a:avLst/>
              <a:gdLst/>
              <a:ahLst/>
              <a:cxnLst/>
              <a:rect r="r" b="b" t="t" l="l"/>
              <a:pathLst>
                <a:path h="731520" w="4407408">
                  <a:moveTo>
                    <a:pt x="0" y="0"/>
                  </a:moveTo>
                  <a:lnTo>
                    <a:pt x="4407408" y="0"/>
                  </a:lnTo>
                  <a:lnTo>
                    <a:pt x="4407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97" r="0" b="-67397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407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Draft the MCQ set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594860" y="4320540"/>
            <a:ext cx="594360" cy="1851660"/>
            <a:chOff x="0" y="0"/>
            <a:chExt cx="792480" cy="2468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92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9714" t="0" r="-349714" b="0"/>
              </a:stretch>
            </a:blipFill>
          </p:spPr>
          <p:txBody>
            <a:bodyPr/>
            <a:p/>
          </p:txBody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792480" cy="2545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174932" y="4306253"/>
            <a:ext cx="3663315" cy="1880235"/>
            <a:chOff x="0" y="0"/>
            <a:chExt cx="4884420" cy="25069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84420" cy="2506980"/>
            </a:xfrm>
            <a:custGeom>
              <a:avLst/>
              <a:gdLst/>
              <a:ahLst/>
              <a:cxnLst/>
              <a:rect r="r" b="b" t="t" l="l"/>
              <a:pathLst>
                <a:path h="2506980" w="48844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4735830" y="0"/>
                  </a:lnTo>
                  <a:cubicBezTo>
                    <a:pt x="4817872" y="0"/>
                    <a:pt x="4884420" y="66548"/>
                    <a:pt x="4884420" y="148590"/>
                  </a:cubicBezTo>
                  <a:lnTo>
                    <a:pt x="4884420" y="2358390"/>
                  </a:lnTo>
                  <a:cubicBezTo>
                    <a:pt x="4884420" y="2440432"/>
                    <a:pt x="4817872" y="2506980"/>
                    <a:pt x="4735830" y="2506980"/>
                  </a:cubicBezTo>
                  <a:lnTo>
                    <a:pt x="148590" y="2506980"/>
                  </a:lnTo>
                  <a:cubicBezTo>
                    <a:pt x="66548" y="2506980"/>
                    <a:pt x="0" y="2440432"/>
                    <a:pt x="0" y="235839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386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5353812" y="4759452"/>
            <a:ext cx="3305556" cy="548640"/>
            <a:chOff x="0" y="0"/>
            <a:chExt cx="4407408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407408" cy="731520"/>
            </a:xfrm>
            <a:custGeom>
              <a:avLst/>
              <a:gdLst/>
              <a:ahLst/>
              <a:cxnLst/>
              <a:rect r="r" b="b" t="t" l="l"/>
              <a:pathLst>
                <a:path h="731520" w="4407408">
                  <a:moveTo>
                    <a:pt x="0" y="0"/>
                  </a:moveTo>
                  <a:lnTo>
                    <a:pt x="4407408" y="0"/>
                  </a:lnTo>
                  <a:lnTo>
                    <a:pt x="4407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97" r="0" b="-67397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407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Plagiarism check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353812" y="5335524"/>
            <a:ext cx="3305556" cy="548640"/>
            <a:chOff x="0" y="0"/>
            <a:chExt cx="4407408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407408" cy="731520"/>
            </a:xfrm>
            <a:custGeom>
              <a:avLst/>
              <a:gdLst/>
              <a:ahLst/>
              <a:cxnLst/>
              <a:rect r="r" b="b" t="t" l="l"/>
              <a:pathLst>
                <a:path h="731520" w="4407408">
                  <a:moveTo>
                    <a:pt x="0" y="0"/>
                  </a:moveTo>
                  <a:lnTo>
                    <a:pt x="4407408" y="0"/>
                  </a:lnTo>
                  <a:lnTo>
                    <a:pt x="4407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97" r="0" b="-67397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407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Scan every item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823960" y="4320540"/>
            <a:ext cx="594360" cy="1851660"/>
            <a:chOff x="0" y="0"/>
            <a:chExt cx="792480" cy="24688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92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9714" t="0" r="-349714" b="0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76200"/>
              <a:ext cx="792480" cy="2545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04032" y="4306253"/>
            <a:ext cx="3663315" cy="1880235"/>
            <a:chOff x="0" y="0"/>
            <a:chExt cx="4884420" cy="25069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84420" cy="2506980"/>
            </a:xfrm>
            <a:custGeom>
              <a:avLst/>
              <a:gdLst/>
              <a:ahLst/>
              <a:cxnLst/>
              <a:rect r="r" b="b" t="t" l="l"/>
              <a:pathLst>
                <a:path h="2506980" w="48844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4735830" y="0"/>
                  </a:lnTo>
                  <a:cubicBezTo>
                    <a:pt x="4817872" y="0"/>
                    <a:pt x="4884420" y="66548"/>
                    <a:pt x="4884420" y="148590"/>
                  </a:cubicBezTo>
                  <a:lnTo>
                    <a:pt x="4884420" y="2358390"/>
                  </a:lnTo>
                  <a:cubicBezTo>
                    <a:pt x="4884420" y="2440432"/>
                    <a:pt x="4817872" y="2506980"/>
                    <a:pt x="4735830" y="2506980"/>
                  </a:cubicBezTo>
                  <a:lnTo>
                    <a:pt x="148590" y="2506980"/>
                  </a:lnTo>
                  <a:cubicBezTo>
                    <a:pt x="66548" y="2506980"/>
                    <a:pt x="0" y="2440432"/>
                    <a:pt x="0" y="235839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386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82912" y="4759452"/>
            <a:ext cx="3305556" cy="548640"/>
            <a:chOff x="0" y="0"/>
            <a:chExt cx="4407408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407408" cy="731520"/>
            </a:xfrm>
            <a:custGeom>
              <a:avLst/>
              <a:gdLst/>
              <a:ahLst/>
              <a:cxnLst/>
              <a:rect r="r" b="b" t="t" l="l"/>
              <a:pathLst>
                <a:path h="731520" w="4407408">
                  <a:moveTo>
                    <a:pt x="0" y="0"/>
                  </a:moveTo>
                  <a:lnTo>
                    <a:pt x="4407408" y="0"/>
                  </a:lnTo>
                  <a:lnTo>
                    <a:pt x="4407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97" r="0" b="-67397"/>
              </a:stretch>
            </a:blipFill>
          </p:spPr>
          <p:txBody>
            <a:bodyPr/>
            <a:p/>
          </p:txBody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407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Revamp flagged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582912" y="5335524"/>
            <a:ext cx="3305556" cy="548640"/>
            <a:chOff x="0" y="0"/>
            <a:chExt cx="4407408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407408" cy="731520"/>
            </a:xfrm>
            <a:custGeom>
              <a:avLst/>
              <a:gdLst/>
              <a:ahLst/>
              <a:cxnLst/>
              <a:rect r="r" b="b" t="t" l="l"/>
              <a:pathLst>
                <a:path h="731520" w="4407408">
                  <a:moveTo>
                    <a:pt x="0" y="0"/>
                  </a:moveTo>
                  <a:lnTo>
                    <a:pt x="4407408" y="0"/>
                  </a:lnTo>
                  <a:lnTo>
                    <a:pt x="4407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97" r="0" b="-67397"/>
              </a:stretch>
            </a:blipFill>
          </p:spPr>
          <p:txBody>
            <a:bodyPr/>
            <a:p/>
          </p:txBody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407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Rewrite what's caught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053060" y="4320540"/>
            <a:ext cx="594360" cy="1851660"/>
            <a:chOff x="0" y="0"/>
            <a:chExt cx="792480" cy="24688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92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9714" t="0" r="-349714" b="0"/>
              </a:stretch>
            </a:blipFill>
          </p:spPr>
          <p:txBody>
            <a:bodyPr/>
            <a:p/>
          </p:txBody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792480" cy="2545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633132" y="4306253"/>
            <a:ext cx="3663315" cy="1880235"/>
            <a:chOff x="0" y="0"/>
            <a:chExt cx="4884420" cy="25069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84420" cy="2506980"/>
            </a:xfrm>
            <a:custGeom>
              <a:avLst/>
              <a:gdLst/>
              <a:ahLst/>
              <a:cxnLst/>
              <a:rect r="r" b="b" t="t" l="l"/>
              <a:pathLst>
                <a:path h="2506980" w="488442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4735830" y="0"/>
                  </a:lnTo>
                  <a:cubicBezTo>
                    <a:pt x="4817872" y="0"/>
                    <a:pt x="4884420" y="66548"/>
                    <a:pt x="4884420" y="148590"/>
                  </a:cubicBezTo>
                  <a:lnTo>
                    <a:pt x="4884420" y="2358390"/>
                  </a:lnTo>
                  <a:cubicBezTo>
                    <a:pt x="4884420" y="2440432"/>
                    <a:pt x="4817872" y="2506980"/>
                    <a:pt x="4735830" y="2506980"/>
                  </a:cubicBezTo>
                  <a:lnTo>
                    <a:pt x="148590" y="2506980"/>
                  </a:lnTo>
                  <a:cubicBezTo>
                    <a:pt x="66548" y="2506980"/>
                    <a:pt x="0" y="2440432"/>
                    <a:pt x="0" y="235839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386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812012" y="4759452"/>
            <a:ext cx="3305556" cy="548640"/>
            <a:chOff x="0" y="0"/>
            <a:chExt cx="4407408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07408" cy="731520"/>
            </a:xfrm>
            <a:custGeom>
              <a:avLst/>
              <a:gdLst/>
              <a:ahLst/>
              <a:cxnLst/>
              <a:rect r="r" b="b" t="t" l="l"/>
              <a:pathLst>
                <a:path h="731520" w="4407408">
                  <a:moveTo>
                    <a:pt x="0" y="0"/>
                  </a:moveTo>
                  <a:lnTo>
                    <a:pt x="4407408" y="0"/>
                  </a:lnTo>
                  <a:lnTo>
                    <a:pt x="4407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97" r="0" b="-67397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407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output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812012" y="5335524"/>
            <a:ext cx="3305556" cy="548640"/>
            <a:chOff x="0" y="0"/>
            <a:chExt cx="4407408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407408" cy="731520"/>
            </a:xfrm>
            <a:custGeom>
              <a:avLst/>
              <a:gdLst/>
              <a:ahLst/>
              <a:cxnLst/>
              <a:rect r="r" b="b" t="t" l="l"/>
              <a:pathLst>
                <a:path h="731520" w="4407408">
                  <a:moveTo>
                    <a:pt x="0" y="0"/>
                  </a:moveTo>
                  <a:lnTo>
                    <a:pt x="4407408" y="0"/>
                  </a:lnTo>
                  <a:lnTo>
                    <a:pt x="4407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397" r="0" b="-67397"/>
              </a:stretch>
            </a:blipFill>
          </p:spPr>
          <p:txBody>
            <a:bodyPr/>
            <a:p/>
          </p:txBody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407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Original &amp; ready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0120" y="6515100"/>
            <a:ext cx="16322040" cy="548640"/>
            <a:chOff x="0" y="0"/>
            <a:chExt cx="2176272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  <p:txBody>
            <a:bodyPr/>
            <a:p/>
          </p:txBody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21762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Flagged items loop back and are rewritten until the whole set is clean.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0120" y="7680960"/>
            <a:ext cx="16322040" cy="685800"/>
            <a:chOff x="0" y="0"/>
            <a:chExt cx="21762720" cy="914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743" r="0" b="-413743"/>
              </a:stretch>
            </a:blipFill>
          </p:spPr>
          <p:txBody>
            <a:bodyPr/>
            <a:p/>
          </p:txBody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17627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comes back is final — original, source-grounded, and answer-checked — protecting test validity with no separate review step.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37"/>
          <p:cNvSpPr/>
          <p:nvPr/>
        </p:nvSpPr>
        <p:spPr>
          <a:xfrm>
            <a:off x="9372600" y="3337560"/>
            <a:ext cx="8092440" cy="402336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E6E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2960" y="3337560"/>
            <a:ext cx="8092440" cy="4023360"/>
          </a:xfrm>
          <a:prstGeom prst="roundRect">
            <a:avLst>
              <a:gd name="adj" fmla="val 4000"/>
            </a:avLst>
          </a:prstGeom>
          <a:solidFill>
            <a:srgbClr val="ECF6F0"/>
          </a:solidFill>
          <a:ln w="9525">
            <a:solidFill>
              <a:srgbClr val="D6EB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1399032"/>
            <a:ext cx="16322040" cy="411480"/>
            <a:chOff x="0" y="0"/>
            <a:chExt cx="217627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ROADMAP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688" y="1810512"/>
            <a:ext cx="16459200" cy="960120"/>
            <a:chOff x="0" y="0"/>
            <a:chExt cx="21945600" cy="1280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219456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What's next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3429000"/>
            <a:ext cx="6922531" cy="5486400"/>
            <a:chOff x="0" y="0"/>
            <a:chExt cx="9230042" cy="7315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30042" cy="7315200"/>
            </a:xfrm>
            <a:custGeom>
              <a:avLst/>
              <a:gdLst/>
              <a:ahLst/>
              <a:cxnLst/>
              <a:rect r="r" b="b" t="t" l="l"/>
              <a:pathLst>
                <a:path h="7315200" w="9230042">
                  <a:moveTo>
                    <a:pt x="0" y="146304"/>
                  </a:moveTo>
                  <a:cubicBezTo>
                    <a:pt x="0" y="65532"/>
                    <a:pt x="86356" y="0"/>
                    <a:pt x="192795" y="0"/>
                  </a:cubicBezTo>
                  <a:lnTo>
                    <a:pt x="9037247" y="0"/>
                  </a:lnTo>
                  <a:cubicBezTo>
                    <a:pt x="9143685" y="0"/>
                    <a:pt x="9230042" y="65532"/>
                    <a:pt x="9230042" y="146304"/>
                  </a:cubicBezTo>
                  <a:lnTo>
                    <a:pt x="9230042" y="7168896"/>
                  </a:lnTo>
                  <a:cubicBezTo>
                    <a:pt x="9230042" y="7249668"/>
                    <a:pt x="9143685" y="7315200"/>
                    <a:pt x="9037247" y="7315200"/>
                  </a:cubicBezTo>
                  <a:lnTo>
                    <a:pt x="192795" y="7315200"/>
                  </a:lnTo>
                  <a:cubicBezTo>
                    <a:pt x="86356" y="7315200"/>
                    <a:pt x="0" y="7249668"/>
                    <a:pt x="0" y="7168896"/>
                  </a:cubicBezTo>
                  <a:close/>
                </a:path>
              </a:pathLst>
            </a:custGeom>
            <a:solidFill>
              <a:srgbClr val="F4F6F9"/>
            </a:solid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40180" y="3922776"/>
            <a:ext cx="301752" cy="301752"/>
            <a:chOff x="0" y="0"/>
            <a:chExt cx="402336" cy="4023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89CE39"/>
            </a:solid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1892808" y="3840480"/>
            <a:ext cx="3881628" cy="548640"/>
            <a:chOff x="0" y="0"/>
            <a:chExt cx="5175504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75504" cy="731520"/>
            </a:xfrm>
            <a:custGeom>
              <a:avLst/>
              <a:gdLst/>
              <a:ahLst/>
              <a:cxnLst/>
              <a:rect r="r" b="b" t="t" l="l"/>
              <a:pathLst>
                <a:path h="731520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856" r="0" b="-87856"/>
              </a:stretch>
            </a:blip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175504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25">
                  <a:solidFill>
                    <a:srgbClr val="2E7D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NOW · IN USE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81328" y="4665345"/>
            <a:ext cx="9596924" cy="2148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345" indent="-248173" lvl="1">
              <a:lnSpc>
                <a:spcPts val="3356"/>
              </a:lnSpc>
              <a:buFont typeface="Arial"/>
              <a:buChar char="•"/>
            </a:pPr>
            <a:r>
              <a:rPr lang="en-US" sz="274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Two modes — samples, or just a topic + type</a:t>
            </a:r>
          </a:p>
          <a:p>
            <a:pPr algn="l" marL="496345" indent="-248173" lvl="1">
              <a:lnSpc>
                <a:spcPts val="3356"/>
              </a:lnSpc>
              <a:buFont typeface="Arial"/>
              <a:buChar char="•"/>
            </a:pPr>
            <a:r>
              <a:rPr lang="en-US" sz="274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Web-grounded, answer-checked originality</a:t>
            </a:r>
          </a:p>
          <a:p>
            <a:pPr algn="l" marL="496345" indent="-248173" lvl="1">
              <a:lnSpc>
                <a:spcPts val="3356"/>
              </a:lnSpc>
              <a:buFont typeface="Arial"/>
              <a:buChar char="•"/>
            </a:pPr>
            <a:r>
              <a:rPr lang="en-US" sz="274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Inline plagiarism self-correction + auto-revamp</a:t>
            </a:r>
          </a:p>
          <a:p>
            <a:pPr algn="l" marL="496345" indent="-248173" lvl="1">
              <a:lnSpc>
                <a:spcPts val="3356"/>
              </a:lnSpc>
              <a:buFont typeface="Arial"/>
              <a:buChar char="•"/>
            </a:pPr>
            <a:r>
              <a:rPr lang="en-US" sz="274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Edit any question — manually or with AI</a:t>
            </a:r>
          </a:p>
          <a:p>
            <a:pPr algn="l" marL="496345" indent="-248173" lvl="1">
              <a:lnSpc>
                <a:spcPts val="3356"/>
              </a:lnSpc>
              <a:buFont typeface="Arial"/>
              <a:buChar char="•"/>
            </a:pPr>
            <a:r>
              <a:rPr lang="en-US" sz="2742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Parallel batches of 50 · Mettl-ready export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26880" y="3429000"/>
            <a:ext cx="7667244" cy="5486400"/>
            <a:chOff x="0" y="0"/>
            <a:chExt cx="10222992" cy="7315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22992" cy="7315200"/>
            </a:xfrm>
            <a:custGeom>
              <a:avLst/>
              <a:gdLst/>
              <a:ahLst/>
              <a:cxnLst/>
              <a:rect r="r" b="b" t="t" l="l"/>
              <a:pathLst>
                <a:path h="7315200" w="10222992">
                  <a:moveTo>
                    <a:pt x="0" y="146304"/>
                  </a:moveTo>
                  <a:cubicBezTo>
                    <a:pt x="0" y="65532"/>
                    <a:pt x="95646" y="0"/>
                    <a:pt x="213535" y="0"/>
                  </a:cubicBezTo>
                  <a:lnTo>
                    <a:pt x="10009457" y="0"/>
                  </a:lnTo>
                  <a:cubicBezTo>
                    <a:pt x="10127346" y="0"/>
                    <a:pt x="10222992" y="65532"/>
                    <a:pt x="10222992" y="146304"/>
                  </a:cubicBezTo>
                  <a:lnTo>
                    <a:pt x="10222992" y="7168896"/>
                  </a:lnTo>
                  <a:cubicBezTo>
                    <a:pt x="10222992" y="7249668"/>
                    <a:pt x="10127346" y="7315200"/>
                    <a:pt x="10009457" y="7315200"/>
                  </a:cubicBezTo>
                  <a:lnTo>
                    <a:pt x="213535" y="7315200"/>
                  </a:lnTo>
                  <a:cubicBezTo>
                    <a:pt x="95646" y="7315200"/>
                    <a:pt x="0" y="7249668"/>
                    <a:pt x="0" y="7168896"/>
                  </a:cubicBezTo>
                  <a:close/>
                </a:path>
              </a:pathLst>
            </a:custGeom>
            <a:solidFill>
              <a:srgbClr val="F4F6F9"/>
            </a:solid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9993340" y="3840480"/>
            <a:ext cx="301752" cy="301752"/>
            <a:chOff x="0" y="0"/>
            <a:chExt cx="402336" cy="4023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447492" y="3799332"/>
            <a:ext cx="3881628" cy="548640"/>
            <a:chOff x="0" y="0"/>
            <a:chExt cx="5175504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75504" cy="731520"/>
            </a:xfrm>
            <a:custGeom>
              <a:avLst/>
              <a:gdLst/>
              <a:ahLst/>
              <a:cxnLst/>
              <a:rect r="r" b="b" t="t" l="l"/>
              <a:pathLst>
                <a:path h="731520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856" r="0" b="-87856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5175504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spc="225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804959" y="4665345"/>
            <a:ext cx="6654241" cy="2293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929" indent="-265464" lvl="1">
              <a:lnSpc>
                <a:spcPts val="3590"/>
              </a:lnSpc>
              <a:buFont typeface="Arial"/>
              <a:buChar char="•"/>
            </a:pPr>
            <a:r>
              <a:rPr lang="en-US" sz="293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Auto-scale by defined skills — generate until the target count is reached</a:t>
            </a:r>
          </a:p>
          <a:p>
            <a:pPr algn="l" marL="530929" indent="-265464" lvl="1">
              <a:lnSpc>
                <a:spcPts val="3590"/>
              </a:lnSpc>
              <a:buFont typeface="Arial"/>
              <a:buChar char="•"/>
            </a:pPr>
            <a:r>
              <a:rPr lang="en-US" sz="293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Direct upload to the Mettl platform</a:t>
            </a:r>
          </a:p>
          <a:p>
            <a:pPr algn="l" marL="530929" indent="-265464" lvl="1">
              <a:lnSpc>
                <a:spcPts val="3590"/>
              </a:lnSpc>
              <a:buFont typeface="Arial"/>
              <a:buChar char="•"/>
            </a:pPr>
            <a:r>
              <a:rPr lang="en-US" sz="293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Judge0 integration — real-time code compilation &amp; verification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987552"/>
            <a:chOff x="0" y="0"/>
            <a:chExt cx="24377904" cy="13167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754380" y="0"/>
            <a:ext cx="8229600" cy="987552"/>
            <a:chOff x="0" y="0"/>
            <a:chExt cx="10972800" cy="1316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97280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MERCER  |  METTL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26880" y="0"/>
            <a:ext cx="8202168" cy="987552"/>
            <a:chOff x="0" y="0"/>
            <a:chExt cx="10936224" cy="1316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3622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936224">
                  <a:moveTo>
                    <a:pt x="0" y="0"/>
                  </a:moveTo>
                  <a:lnTo>
                    <a:pt x="10936224" y="0"/>
                  </a:lnTo>
                  <a:lnTo>
                    <a:pt x="10936224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34" r="0" b="-111834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36224" cy="13453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CFE0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MCQ Gen AI Creation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9848088"/>
            <a:ext cx="18283428" cy="438912"/>
            <a:chOff x="0" y="0"/>
            <a:chExt cx="2437790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585216"/>
            </a:xfrm>
            <a:custGeom>
              <a:avLst/>
              <a:gdLst/>
              <a:ahLst/>
              <a:cxnLst/>
              <a:rect r="r" b="b" t="t" l="l"/>
              <a:pathLst>
                <a:path h="585216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3865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59200" y="9848088"/>
            <a:ext cx="1069848" cy="438912"/>
            <a:chOff x="0" y="0"/>
            <a:chExt cx="1426464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464" cy="585216"/>
            </a:xfrm>
            <a:custGeom>
              <a:avLst/>
              <a:gdLst/>
              <a:ahLst/>
              <a:cxnLst/>
              <a:rect r="r" b="b" t="t" l="l"/>
              <a:pathLst>
                <a:path h="585216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37" t="0" r="-2637" b="0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26464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BFD2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3223260"/>
            <a:ext cx="96012" cy="1371600"/>
            <a:chOff x="0" y="0"/>
            <a:chExt cx="128016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016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89CE39"/>
            </a:solid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18488" y="3154680"/>
            <a:ext cx="10972800" cy="411480"/>
            <a:chOff x="0" y="0"/>
            <a:chExt cx="14630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46304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450">
                  <a:solidFill>
                    <a:srgbClr val="5E8C1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 SUMMARY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77340" y="3593592"/>
            <a:ext cx="15636240" cy="1234440"/>
            <a:chOff x="0" y="0"/>
            <a:chExt cx="20848320" cy="1645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8483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>
              <a:off x="0" y="-104775"/>
              <a:ext cx="20848320" cy="1750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40"/>
                </a:lnSpc>
              </a:pPr>
              <a:r>
                <a:rPr lang="en-US" sz="4950" b="true">
                  <a:solidFill>
                    <a:srgbClr val="00386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DAHLTXlsYmY</dc:identifier>
  <dcterms:modified xsi:type="dcterms:W3CDTF">2011-08-01T06:04:30Z</dcterms:modified>
  <cp:revision>1</cp:revision>
  <dc:title>MCQ_GenAI_Creation_Showcase.pptx</dc:title>
</cp:coreProperties>
</file>