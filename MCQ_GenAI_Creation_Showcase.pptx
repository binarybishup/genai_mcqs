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  <p:embeddedFont>
      <p:font typeface="Calibri (MS) Italics" charset="1" panose="020F05020202040A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notesMaster" Target="notesMasters/notesMaster1.xml"/><Relationship Id="rId17" Type="http://schemas.openxmlformats.org/officeDocument/2006/relationships/theme" Target="theme/theme2.xml"/><Relationship Id="rId18" Type="http://schemas.openxmlformats.org/officeDocument/2006/relationships/notesSlide" Target="notesSlides/notesSlide1.xml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notesSlide" Target="notesSlides/notesSlide2.xml"/><Relationship Id="rId22" Type="http://schemas.openxmlformats.org/officeDocument/2006/relationships/notesSlide" Target="notesSlides/notesSlide3.xml"/><Relationship Id="rId23" Type="http://schemas.openxmlformats.org/officeDocument/2006/relationships/notesSlide" Target="notesSlides/notesSlide4.xml"/><Relationship Id="rId24" Type="http://schemas.openxmlformats.org/officeDocument/2006/relationships/notesSlide" Target="notesSlides/notesSlide5.xml"/><Relationship Id="rId25" Type="http://schemas.openxmlformats.org/officeDocument/2006/relationships/notesSlide" Target="notesSlides/notesSlide6.xml"/><Relationship Id="rId26" Type="http://schemas.openxmlformats.org/officeDocument/2006/relationships/notesSlide" Target="notesSlides/notesSlide7.xml"/><Relationship Id="rId27" Type="http://schemas.openxmlformats.org/officeDocument/2006/relationships/notesSlide" Target="notesSlides/notesSlide8.xml"/><Relationship Id="rId28" Type="http://schemas.openxmlformats.org/officeDocument/2006/relationships/font" Target="fonts/font28.fntdata"/><Relationship Id="rId29" Type="http://schemas.openxmlformats.org/officeDocument/2006/relationships/notesSlide" Target="notesSlides/notesSlide9.xml"/><Relationship Id="rId30" Type="http://schemas.openxmlformats.org/officeDocument/2006/relationships/notesSlide" Target="notesSlides/notes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9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gif"/><Relationship Id="rId9" Type="http://schemas.openxmlformats.org/officeDocument/2006/relationships/image" Target="../media/image16.gif"/><Relationship Id="rId10" Type="http://schemas.openxmlformats.org/officeDocument/2006/relationships/image" Target="../media/image17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4440" y="3429000"/>
            <a:ext cx="96012" cy="2125980"/>
            <a:chOff x="0" y="0"/>
            <a:chExt cx="128016" cy="2834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8016" cy="2834640"/>
            </a:xfrm>
            <a:custGeom>
              <a:avLst/>
              <a:gdLst/>
              <a:ahLst/>
              <a:cxnLst/>
              <a:rect r="r" b="b" t="t" l="l"/>
              <a:pathLst>
                <a:path h="283464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2834640"/>
                  </a:lnTo>
                  <a:lnTo>
                    <a:pt x="0" y="283464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577340" y="3758184"/>
            <a:ext cx="15636240" cy="1440180"/>
            <a:chOff x="0" y="0"/>
            <a:chExt cx="20848320" cy="19202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84832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1551" r="0" b="-16155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61925"/>
              <a:ext cx="20848320" cy="2082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000"/>
                </a:lnSpc>
              </a:pPr>
              <a:r>
                <a:rPr lang="en-US" sz="7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18488" y="5280660"/>
            <a:ext cx="15087600" cy="685800"/>
            <a:chOff x="0" y="0"/>
            <a:chExt cx="2011680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2011680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sz="315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AI-powered assessment question creation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18488" y="6336792"/>
            <a:ext cx="12344400" cy="685800"/>
            <a:chOff x="0" y="0"/>
            <a:chExt cx="16459200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459200" cy="914400"/>
            </a:xfrm>
            <a:custGeom>
              <a:avLst/>
              <a:gdLst/>
              <a:ahLst/>
              <a:cxnLst/>
              <a:rect r="r" b="b" t="t" l="l"/>
              <a:pathLst>
                <a:path h="91440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645920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sample set or just a topic — built in-house on Claude.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we built it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585" r="0" b="-37158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1762720" cy="1043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 produce a high volume of assessment questions in-house — and every one of them has to be original.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4046220"/>
            <a:ext cx="7886700" cy="3429000"/>
            <a:chOff x="0" y="0"/>
            <a:chExt cx="10515600" cy="4572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95460" y="4046220"/>
            <a:ext cx="7886700" cy="3429000"/>
            <a:chOff x="0" y="0"/>
            <a:chExt cx="10515600" cy="4572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40180" y="4485132"/>
            <a:ext cx="576072" cy="576072"/>
            <a:chOff x="0" y="0"/>
            <a:chExt cx="768096" cy="768096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875520" y="4485132"/>
            <a:ext cx="576072" cy="576072"/>
            <a:chOff x="0" y="0"/>
            <a:chExt cx="768096" cy="768096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440180" y="5253228"/>
            <a:ext cx="6995160" cy="548640"/>
            <a:chOff x="0" y="0"/>
            <a:chExt cx="932688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volume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40180" y="5911596"/>
            <a:ext cx="6995160" cy="1371600"/>
            <a:chOff x="0" y="0"/>
            <a:chExt cx="9326880" cy="1828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66675"/>
              <a:ext cx="9326880" cy="18954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Our teams author questions across many skills, roles, and difficulty levels. Collecting them from SMEs is slow and can't keep pace with demand.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875520" y="5253228"/>
            <a:ext cx="6995160" cy="548640"/>
            <a:chOff x="0" y="0"/>
            <a:chExt cx="932688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originality bar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875520" y="5911596"/>
            <a:ext cx="6995160" cy="1371600"/>
            <a:chOff x="0" y="0"/>
            <a:chExt cx="9326880" cy="1828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66675"/>
              <a:ext cx="9326880" cy="18954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Leaked or duplicated questions quietly undermine test validity. Originality has to be assured when a question is written — not hoped for and checked later.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60120" y="7886700"/>
            <a:ext cx="16322040" cy="685800"/>
            <a:chOff x="0" y="0"/>
            <a:chExt cx="21762720" cy="914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21762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 was built to handle both at once — speed, without giving up originality.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OVERVIEW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it is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585" r="0" b="-37158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333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Turn a topic — with or without sample questions — into ready-to-use, original MCQs.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3771900"/>
            <a:ext cx="16322040" cy="548640"/>
            <a:chOff x="0" y="0"/>
            <a:chExt cx="2176272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679" r="0" b="-52967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217627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in-house on Claude's API.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60120" y="4732020"/>
            <a:ext cx="5253228" cy="3291840"/>
            <a:chOff x="0" y="0"/>
            <a:chExt cx="7004304" cy="43891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440180" y="5225796"/>
            <a:ext cx="548640" cy="548640"/>
            <a:chOff x="0" y="0"/>
            <a:chExt cx="731520" cy="73152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440180" y="5939028"/>
            <a:ext cx="4293108" cy="617220"/>
            <a:chOff x="0" y="0"/>
            <a:chExt cx="5724144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ways in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0180" y="6624828"/>
            <a:ext cx="4320540" cy="1303020"/>
            <a:chOff x="0" y="0"/>
            <a:chExt cx="5760720" cy="17373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Start from a sample set, or from just a topic and question type.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487668" y="4732020"/>
            <a:ext cx="5253228" cy="3291840"/>
            <a:chOff x="0" y="0"/>
            <a:chExt cx="7004304" cy="4389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6967728" y="5225796"/>
            <a:ext cx="548640" cy="548640"/>
            <a:chOff x="0" y="0"/>
            <a:chExt cx="731520" cy="731520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6967728" y="5939028"/>
            <a:ext cx="4293108" cy="617220"/>
            <a:chOff x="0" y="0"/>
            <a:chExt cx="5724144" cy="8229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at volume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967728" y="6624828"/>
            <a:ext cx="4320540" cy="1303020"/>
            <a:chOff x="0" y="0"/>
            <a:chExt cx="5760720" cy="1737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Generates in the background, in parallel batches — not one at a time.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015216" y="4732020"/>
            <a:ext cx="5253228" cy="3291840"/>
            <a:chOff x="0" y="0"/>
            <a:chExt cx="7004304" cy="43891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2495276" y="5225796"/>
            <a:ext cx="548640" cy="548640"/>
            <a:chOff x="0" y="0"/>
            <a:chExt cx="731520" cy="731520"/>
          </a:xfrm>
        </p:grpSpPr>
        <p:sp>
          <p:nvSpPr>
            <p:cNvPr name="Freeform 50" id="5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2495276" y="5939028"/>
            <a:ext cx="4293108" cy="617220"/>
            <a:chOff x="0" y="0"/>
            <a:chExt cx="5724144" cy="82296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 by default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495276" y="6624828"/>
            <a:ext cx="4320540" cy="1303020"/>
            <a:chOff x="0" y="0"/>
            <a:chExt cx="5760720" cy="173736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Grounded on real sources, answer-checked, and self-corrected before anything reaches you.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MODES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ways to generate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360420"/>
            <a:ext cx="7886700" cy="3497580"/>
            <a:chOff x="0" y="0"/>
            <a:chExt cx="10515600" cy="46634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15600" cy="4663440"/>
            </a:xfrm>
            <a:custGeom>
              <a:avLst/>
              <a:gdLst/>
              <a:ahLst/>
              <a:cxnLst/>
              <a:rect r="r" b="b" t="t" l="l"/>
              <a:pathLst>
                <a:path h="466344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517136"/>
                  </a:lnTo>
                  <a:cubicBezTo>
                    <a:pt x="10515600" y="4597908"/>
                    <a:pt x="10450068" y="4663440"/>
                    <a:pt x="10369296" y="4663440"/>
                  </a:cubicBezTo>
                  <a:lnTo>
                    <a:pt x="146304" y="4663440"/>
                  </a:lnTo>
                  <a:cubicBezTo>
                    <a:pt x="65532" y="4663440"/>
                    <a:pt x="0" y="4597908"/>
                    <a:pt x="0" y="451713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95460" y="3360420"/>
            <a:ext cx="7886700" cy="3497580"/>
            <a:chOff x="0" y="0"/>
            <a:chExt cx="10515600" cy="4663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515600" cy="4663440"/>
            </a:xfrm>
            <a:custGeom>
              <a:avLst/>
              <a:gdLst/>
              <a:ahLst/>
              <a:cxnLst/>
              <a:rect r="r" b="b" t="t" l="l"/>
              <a:pathLst>
                <a:path h="466344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517136"/>
                  </a:lnTo>
                  <a:cubicBezTo>
                    <a:pt x="10515600" y="4597908"/>
                    <a:pt x="10450068" y="4663440"/>
                    <a:pt x="10369296" y="4663440"/>
                  </a:cubicBezTo>
                  <a:lnTo>
                    <a:pt x="146304" y="4663440"/>
                  </a:lnTo>
                  <a:cubicBezTo>
                    <a:pt x="65532" y="4663440"/>
                    <a:pt x="0" y="4597908"/>
                    <a:pt x="0" y="451713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440180" y="3826764"/>
            <a:ext cx="576072" cy="576072"/>
            <a:chOff x="0" y="0"/>
            <a:chExt cx="768096" cy="768096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40180" y="4594860"/>
            <a:ext cx="6995160" cy="548640"/>
            <a:chOff x="0" y="0"/>
            <a:chExt cx="9326880" cy="7315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With samples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440180" y="5280660"/>
            <a:ext cx="6995160" cy="1371600"/>
            <a:chOff x="0" y="0"/>
            <a:chExt cx="9326880" cy="1828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76200"/>
              <a:ext cx="932688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2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a sample table and the output matches its format, tone, and difficulty — so it fits our bank from the very first line.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875520" y="3826764"/>
            <a:ext cx="576072" cy="576072"/>
            <a:chOff x="0" y="0"/>
            <a:chExt cx="768096" cy="768096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9875520" y="4594860"/>
            <a:ext cx="6995160" cy="548640"/>
            <a:chOff x="0" y="0"/>
            <a:chExt cx="932688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a topic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875520" y="5280660"/>
            <a:ext cx="6995160" cy="1371600"/>
            <a:chOff x="0" y="0"/>
            <a:chExt cx="9326880" cy="1828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76200"/>
              <a:ext cx="932688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2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Give just a topic and a question type — no samples needed — and it creates original questions from scratch.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60120" y="7338060"/>
            <a:ext cx="16322040" cy="685800"/>
            <a:chOff x="0" y="0"/>
            <a:chExt cx="21762720" cy="914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21762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Either way, positive and negative prompts let you steer exactly what to include — and what to avoid.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WORKFLOW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How it works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topic to a verified, upload-ready question set — in six steps.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960120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42416" y="5047488"/>
            <a:ext cx="685800" cy="61722"/>
            <a:chOff x="0" y="0"/>
            <a:chExt cx="914400" cy="822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60120" y="5212080"/>
            <a:ext cx="4978908" cy="548640"/>
            <a:chOff x="0" y="0"/>
            <a:chExt cx="6638544" cy="7315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Pick a mode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60120" y="5788152"/>
            <a:ext cx="4910328" cy="891540"/>
            <a:chOff x="0" y="0"/>
            <a:chExt cx="6547104" cy="11887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With samples, or just a topic and type.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487668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6569964" y="5047488"/>
            <a:ext cx="685800" cy="61722"/>
            <a:chOff x="0" y="0"/>
            <a:chExt cx="914400" cy="8229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487668" y="5212080"/>
            <a:ext cx="4978908" cy="548640"/>
            <a:chOff x="0" y="0"/>
            <a:chExt cx="6638544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Configure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487668" y="5788152"/>
            <a:ext cx="4910328" cy="891540"/>
            <a:chOff x="0" y="0"/>
            <a:chExt cx="6547104" cy="11887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 the type, quantity, and difficulty.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2015216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2097512" y="5047488"/>
            <a:ext cx="685800" cy="61722"/>
            <a:chOff x="0" y="0"/>
            <a:chExt cx="914400" cy="8229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015216" y="5212080"/>
            <a:ext cx="4978908" cy="548640"/>
            <a:chOff x="0" y="0"/>
            <a:chExt cx="6638544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model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015216" y="5788152"/>
            <a:ext cx="4910328" cy="891540"/>
            <a:chOff x="0" y="0"/>
            <a:chExt cx="6547104" cy="11887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Lighter or heavier, to fit the job.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960120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42416" y="7790688"/>
            <a:ext cx="685800" cy="61722"/>
            <a:chOff x="0" y="0"/>
            <a:chExt cx="914400" cy="8229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60120" y="7955280"/>
            <a:ext cx="4978908" cy="548640"/>
            <a:chOff x="0" y="0"/>
            <a:chExt cx="6638544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prompts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60120" y="8531352"/>
            <a:ext cx="4910328" cy="891540"/>
            <a:chOff x="0" y="0"/>
            <a:chExt cx="6547104" cy="11887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Positive and negative guidance to steer output.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6487668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6569964" y="7790688"/>
            <a:ext cx="685800" cy="61722"/>
            <a:chOff x="0" y="0"/>
            <a:chExt cx="914400" cy="8229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6487668" y="7955280"/>
            <a:ext cx="4978908" cy="548640"/>
            <a:chOff x="0" y="0"/>
            <a:chExt cx="6638544" cy="7315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6487668" y="8531352"/>
            <a:ext cx="4910328" cy="891540"/>
            <a:chOff x="0" y="0"/>
            <a:chExt cx="6547104" cy="11887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Runs in the background, in parallel batches of 50.</a:t>
              </a: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12015216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12097512" y="7790688"/>
            <a:ext cx="685800" cy="61722"/>
            <a:chOff x="0" y="0"/>
            <a:chExt cx="914400" cy="8229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2015216" y="7955280"/>
            <a:ext cx="4978908" cy="548640"/>
            <a:chOff x="0" y="0"/>
            <a:chExt cx="6638544" cy="73152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Finalize &amp; export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2015216" y="8531352"/>
            <a:ext cx="4910328" cy="891540"/>
            <a:chOff x="0" y="0"/>
            <a:chExt cx="6547104" cy="11887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Plagiarism check, auto-revamp, Mettl-ready file.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ORIGINALITY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doesn't just flag — it fixes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Plagiarism handling runs inside generation, not as a separate pass afterward.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45832" y="4306253"/>
            <a:ext cx="3663315" cy="1880235"/>
            <a:chOff x="0" y="0"/>
            <a:chExt cx="4884420" cy="25069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4759452"/>
            <a:ext cx="3305556" cy="548640"/>
            <a:chOff x="0" y="0"/>
            <a:chExt cx="4407408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24712" y="5335524"/>
            <a:ext cx="3305556" cy="548640"/>
            <a:chOff x="0" y="0"/>
            <a:chExt cx="4407408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Draft the MCQ set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594860" y="4320540"/>
            <a:ext cx="594360" cy="1851660"/>
            <a:chOff x="0" y="0"/>
            <a:chExt cx="792480" cy="2468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174932" y="4306253"/>
            <a:ext cx="3663315" cy="1880235"/>
            <a:chOff x="0" y="0"/>
            <a:chExt cx="4884420" cy="25069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5353812" y="4759452"/>
            <a:ext cx="3305556" cy="548640"/>
            <a:chOff x="0" y="0"/>
            <a:chExt cx="4407408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Plagiarism check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5353812" y="5335524"/>
            <a:ext cx="3305556" cy="548640"/>
            <a:chOff x="0" y="0"/>
            <a:chExt cx="4407408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Scan every item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823960" y="4320540"/>
            <a:ext cx="594360" cy="1851660"/>
            <a:chOff x="0" y="0"/>
            <a:chExt cx="792480" cy="24688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404032" y="4306253"/>
            <a:ext cx="3663315" cy="1880235"/>
            <a:chOff x="0" y="0"/>
            <a:chExt cx="4884420" cy="250698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82912" y="4759452"/>
            <a:ext cx="3305556" cy="548640"/>
            <a:chOff x="0" y="0"/>
            <a:chExt cx="4407408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Revamp flagged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582912" y="5335524"/>
            <a:ext cx="3305556" cy="548640"/>
            <a:chOff x="0" y="0"/>
            <a:chExt cx="4407408" cy="7315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Rewrite what's caught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3053060" y="4320540"/>
            <a:ext cx="594360" cy="1851660"/>
            <a:chOff x="0" y="0"/>
            <a:chExt cx="792480" cy="24688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3633132" y="4306253"/>
            <a:ext cx="3663315" cy="1880235"/>
            <a:chOff x="0" y="0"/>
            <a:chExt cx="4884420" cy="25069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3812012" y="4759452"/>
            <a:ext cx="3305556" cy="548640"/>
            <a:chOff x="0" y="0"/>
            <a:chExt cx="4407408" cy="7315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 output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812012" y="5335524"/>
            <a:ext cx="3305556" cy="548640"/>
            <a:chOff x="0" y="0"/>
            <a:chExt cx="4407408" cy="73152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Original &amp; ready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0120" y="6515100"/>
            <a:ext cx="16322040" cy="548640"/>
            <a:chOff x="0" y="0"/>
            <a:chExt cx="21762720" cy="7315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679" r="0" b="-529679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217627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Flagged items loop back and are rewritten until the whole set is clean.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0120" y="7680960"/>
            <a:ext cx="16322040" cy="685800"/>
            <a:chOff x="0" y="0"/>
            <a:chExt cx="21762720" cy="914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21762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comes back is final — original, source-grounded, and answer-checked — protecting test validity with no separate review step.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SCALE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Built for volume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Generation isn't one question at a time — it's a pipeline that keeps running.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4114800"/>
            <a:ext cx="5253228" cy="3634740"/>
            <a:chOff x="0" y="0"/>
            <a:chExt cx="7004304" cy="4846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40180" y="4608576"/>
            <a:ext cx="576072" cy="576072"/>
            <a:chOff x="0" y="0"/>
            <a:chExt cx="768096" cy="768096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40180" y="5349240"/>
            <a:ext cx="4293108" cy="960120"/>
            <a:chOff x="0" y="0"/>
            <a:chExt cx="5724144" cy="12801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in the background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40180" y="6172200"/>
            <a:ext cx="4320540" cy="1371600"/>
            <a:chOff x="0" y="0"/>
            <a:chExt cx="5760720" cy="1828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started, generation runs server-side and keeps going — you don't wait on the screen.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487668" y="4114800"/>
            <a:ext cx="5253228" cy="3634740"/>
            <a:chOff x="0" y="0"/>
            <a:chExt cx="7004304" cy="4846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967728" y="4608576"/>
            <a:ext cx="576072" cy="576072"/>
            <a:chOff x="0" y="0"/>
            <a:chExt cx="768096" cy="768096"/>
          </a:xfrm>
        </p:grpSpPr>
        <p:sp>
          <p:nvSpPr>
            <p:cNvPr name="Freeform 37" id="3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967728" y="5349240"/>
            <a:ext cx="4293108" cy="960120"/>
            <a:chOff x="0" y="0"/>
            <a:chExt cx="5724144" cy="12801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Batches of 50, in parallel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967728" y="6172200"/>
            <a:ext cx="4320540" cy="1371600"/>
            <a:chOff x="0" y="0"/>
            <a:chExt cx="5760720" cy="1828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Questions are produced 50 at a time, in parallel, so large sets come back fast.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015216" y="4114800"/>
            <a:ext cx="5253228" cy="3634740"/>
            <a:chOff x="0" y="0"/>
            <a:chExt cx="7004304" cy="4846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2495276" y="4608576"/>
            <a:ext cx="576072" cy="576072"/>
            <a:chOff x="0" y="0"/>
            <a:chExt cx="768096" cy="768096"/>
          </a:xfrm>
        </p:grpSpPr>
        <p:sp>
          <p:nvSpPr>
            <p:cNvPr name="Freeform 47" id="4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2495276" y="5349240"/>
            <a:ext cx="4293108" cy="960120"/>
            <a:chOff x="0" y="0"/>
            <a:chExt cx="5724144" cy="128016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Mettl-ready export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495276" y="6172200"/>
            <a:ext cx="4320540" cy="1371600"/>
            <a:chOff x="0" y="0"/>
            <a:chExt cx="5760720" cy="1828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Output downloads in Mercer Mettl's bulk-upload format — ready to import.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Where it stands today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017520"/>
            <a:ext cx="9052560" cy="822960"/>
            <a:chOff x="0" y="0"/>
            <a:chExt cx="12070080" cy="10972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0700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1207008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and in use, internally.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914400" y="406908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865"/>
                </a:solidFill>
                <a:latin typeface="Calibri"/>
              </a:rPr>
              <a:t>1 · Create from scratch</a:t>
            </a:r>
          </a:p>
        </p:txBody>
      </p:sp>
      <p:pic>
        <p:nvPicPr>
          <p:cNvPr id="25" name="Picture 24" descr="scratch_flow.gi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4572000"/>
            <a:ext cx="7955279" cy="3730752"/>
          </a:xfrm>
          <a:prstGeom prst="rect">
            <a:avLst/>
          </a:prstGeom>
          <a:ln w="12700">
            <a:solidFill>
              <a:srgbClr val="D3D8E0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9418320" y="406908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865"/>
                </a:solidFill>
                <a:latin typeface="Calibri"/>
              </a:rPr>
              <a:t>2 · Create from samples</a:t>
            </a:r>
          </a:p>
        </p:txBody>
      </p:sp>
      <p:pic>
        <p:nvPicPr>
          <p:cNvPr id="27" name="Picture 26" descr="samples_flow.g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8320" y="4572000"/>
            <a:ext cx="7955279" cy="3730752"/>
          </a:xfrm>
          <a:prstGeom prst="rect">
            <a:avLst/>
          </a:prstGeom>
          <a:ln w="12700">
            <a:solidFill>
              <a:srgbClr val="D3D8E0"/>
            </a:solidFill>
          </a:ln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What's next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429000"/>
            <a:ext cx="6922531" cy="5486400"/>
            <a:chOff x="0" y="0"/>
            <a:chExt cx="9230042" cy="7315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230042" cy="7315200"/>
            </a:xfrm>
            <a:custGeom>
              <a:avLst/>
              <a:gdLst/>
              <a:ahLst/>
              <a:cxnLst/>
              <a:rect r="r" b="b" t="t" l="l"/>
              <a:pathLst>
                <a:path h="7315200" w="9230042">
                  <a:moveTo>
                    <a:pt x="0" y="146304"/>
                  </a:moveTo>
                  <a:cubicBezTo>
                    <a:pt x="0" y="65532"/>
                    <a:pt x="86356" y="0"/>
                    <a:pt x="192795" y="0"/>
                  </a:cubicBezTo>
                  <a:lnTo>
                    <a:pt x="9037247" y="0"/>
                  </a:lnTo>
                  <a:cubicBezTo>
                    <a:pt x="9143685" y="0"/>
                    <a:pt x="9230042" y="65532"/>
                    <a:pt x="9230042" y="146304"/>
                  </a:cubicBezTo>
                  <a:lnTo>
                    <a:pt x="9230042" y="7168896"/>
                  </a:lnTo>
                  <a:cubicBezTo>
                    <a:pt x="9230042" y="7249668"/>
                    <a:pt x="9143685" y="7315200"/>
                    <a:pt x="9037247" y="7315200"/>
                  </a:cubicBezTo>
                  <a:lnTo>
                    <a:pt x="192795" y="7315200"/>
                  </a:lnTo>
                  <a:cubicBezTo>
                    <a:pt x="86356" y="7315200"/>
                    <a:pt x="0" y="7249668"/>
                    <a:pt x="0" y="71688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440180" y="3922776"/>
            <a:ext cx="301752" cy="301752"/>
            <a:chOff x="0" y="0"/>
            <a:chExt cx="402336" cy="40233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892808" y="3840480"/>
            <a:ext cx="3881628" cy="548640"/>
            <a:chOff x="0" y="0"/>
            <a:chExt cx="5175504" cy="7315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856" r="0" b="-87856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5175504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IN USE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81328" y="4665345"/>
            <a:ext cx="9596924" cy="2148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Two modes — samples, or just a topic + type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Web-grounded, answer-checked originality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plagiarism self-correction + auto-revamp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Edit any question — manually or with AI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Parallel batches of 50 · Mettl-ready export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326880" y="3429000"/>
            <a:ext cx="7667244" cy="5486400"/>
            <a:chOff x="0" y="0"/>
            <a:chExt cx="10222992" cy="7315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22992" cy="7315200"/>
            </a:xfrm>
            <a:custGeom>
              <a:avLst/>
              <a:gdLst/>
              <a:ahLst/>
              <a:cxnLst/>
              <a:rect r="r" b="b" t="t" l="l"/>
              <a:pathLst>
                <a:path h="7315200" w="10222992">
                  <a:moveTo>
                    <a:pt x="0" y="146304"/>
                  </a:moveTo>
                  <a:cubicBezTo>
                    <a:pt x="0" y="65532"/>
                    <a:pt x="95646" y="0"/>
                    <a:pt x="213535" y="0"/>
                  </a:cubicBezTo>
                  <a:lnTo>
                    <a:pt x="10009457" y="0"/>
                  </a:lnTo>
                  <a:cubicBezTo>
                    <a:pt x="10127346" y="0"/>
                    <a:pt x="10222992" y="65532"/>
                    <a:pt x="10222992" y="146304"/>
                  </a:cubicBezTo>
                  <a:lnTo>
                    <a:pt x="10222992" y="7168896"/>
                  </a:lnTo>
                  <a:cubicBezTo>
                    <a:pt x="10222992" y="7249668"/>
                    <a:pt x="10127346" y="7315200"/>
                    <a:pt x="10009457" y="7315200"/>
                  </a:cubicBezTo>
                  <a:lnTo>
                    <a:pt x="213535" y="7315200"/>
                  </a:lnTo>
                  <a:cubicBezTo>
                    <a:pt x="95646" y="7315200"/>
                    <a:pt x="0" y="7249668"/>
                    <a:pt x="0" y="71688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993340" y="3840480"/>
            <a:ext cx="301752" cy="301752"/>
            <a:chOff x="0" y="0"/>
            <a:chExt cx="402336" cy="40233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0447492" y="3799332"/>
            <a:ext cx="3881628" cy="548640"/>
            <a:chOff x="0" y="0"/>
            <a:chExt cx="5175504" cy="7315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856" r="0" b="-8785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5175504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804959" y="4665345"/>
            <a:ext cx="6654241" cy="2293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Auto-scale by defined skills — generate until the target count is reached</a:t>
            </a:r>
          </a:p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Direct upload to the Mettl platform</a:t>
            </a:r>
          </a:p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Judge0 integration — real-time code compilation &amp;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4440" y="3223260"/>
            <a:ext cx="96012" cy="1371600"/>
            <a:chOff x="0" y="0"/>
            <a:chExt cx="128016" cy="1828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8016" cy="1828800"/>
            </a:xfrm>
            <a:custGeom>
              <a:avLst/>
              <a:gdLst/>
              <a:ahLst/>
              <a:cxnLst/>
              <a:rect r="r" b="b" t="t" l="l"/>
              <a:pathLst>
                <a:path h="182880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618488" y="3154680"/>
            <a:ext cx="10972800" cy="411480"/>
            <a:chOff x="0" y="0"/>
            <a:chExt cx="14630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463040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 SUMMARY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77340" y="3593592"/>
            <a:ext cx="15636240" cy="1234440"/>
            <a:chOff x="0" y="0"/>
            <a:chExt cx="20848320" cy="16459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8483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6810" r="0" b="-19681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04775"/>
              <a:ext cx="20848320" cy="17506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940"/>
                </a:lnSpc>
              </a:pPr>
              <a:r>
                <a:rPr lang="en-US" sz="49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Thank You!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DAHLTXlsYmY</dc:identifier>
  <dcterms:modified xsi:type="dcterms:W3CDTF">2011-08-01T06:04:30Z</dcterms:modified>
  <cp:revision>1</cp:revision>
  <dc:title>MCQ_GenAI_Creation_Showcase.pptx</dc:title>
</cp:coreProperties>
</file>